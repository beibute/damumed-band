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не браслет, а медицинский надзор. Деньги — от мониторинга и подписок.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цены. Не зарабатываем на железе — зарабатываем на надзоре.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национальная процедура, держатель — Damumed. Без ЭКГ и без ИИ,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7250" y="1133475"/>
            <a:ext cx="104775" cy="104775"/>
          </a:xfrm>
          <a:prstGeom prst="ellipse">
            <a:avLst/>
          </a:prstGeom>
          <a:solidFill>
            <a:srgbClr val="3ECF8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76325" y="1047750"/>
            <a:ext cx="42418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Аналитический отчёт · август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7250" y="2434754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33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857250" y="5129138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дешевле массового фитнес-трекера — производство, регистрация и экономика первой партии</a:t>
            </a:r>
            <a:endParaRPr lang="en-US" sz="1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79427"/>
            <a:ext cx="25733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55627"/>
            <a:ext cx="230761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01 · Идея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41414"/>
            <a:ext cx="7946708" cy="1437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154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не браслет, а дистанционное наблюдение врача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464248"/>
            <a:ext cx="5839312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 идёт с минимальной наценкой. Деньги приходят от мониторинга и подписок, а не от железа.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67404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" y="6559748"/>
            <a:ext cx="78057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Контрактное производство браслета без экрана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159823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14450" y="7045523"/>
            <a:ext cx="7672007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Регистрируем как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798849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14450" y="7874198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62994"/>
            <a:ext cx="1942802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39194"/>
            <a:ext cx="1676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1632714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468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9542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52331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4407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52331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538808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28700"/>
            <a:ext cx="12721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59543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34555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34555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32397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542925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53452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363980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13645"/>
            <a:ext cx="2169021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89845"/>
            <a:ext cx="19023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56582"/>
            <a:ext cx="8118932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22887"/>
            <a:ext cx="37719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30018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0" y="4503837"/>
            <a:ext cx="209550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2039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15818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77750" y="51920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97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801618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477750" y="58778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755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7418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2477750" y="65636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613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73218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477750" y="72494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11418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Розничные цены, Kaspi, проверено 31 августа 2026 · на треть ниже Xiaomi Band 10</a:t>
            </a:r>
            <a:endParaRPr lang="en-US" sz="17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22364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цены, ни одной случайной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7637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в рознице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рассрочку на год — 1 250 ₸/мес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9640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2502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в приложении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любой психологической планки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поликлинике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оснащение участка без сложных процедур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наблюдения — в аренде МИС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₸ — доплаты нет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менее трети подушевого норматива</a:t>
            </a:r>
            <a:endParaRPr lang="en-US" sz="17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88803"/>
            <a:ext cx="377450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65003"/>
            <a:ext cx="35448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3174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68998"/>
            <a:ext cx="16192500" cy="34004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7275" y="3778523"/>
            <a:ext cx="16173450" cy="719138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62075" y="4007123"/>
            <a:ext cx="347642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4007123"/>
            <a:ext cx="27621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497660"/>
            <a:ext cx="16173450" cy="890588"/>
          </a:xfrm>
          <a:prstGeom prst="rect">
            <a:avLst/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57275" y="53787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62075" y="4783410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Базовый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3410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693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362075" y="5673998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Массовый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73998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+1,2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+56,3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64585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Доступный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64585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−11,7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+30,7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474223"/>
            <a:ext cx="123615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I на партии 10 000 — осторожный вход, либо уровень II на партии 20 000 — ставка на охват.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49835"/>
            <a:ext cx="2783830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326035"/>
            <a:ext cx="25244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9277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на складе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14001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149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5149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40 + регистрация 18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773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297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в рознице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6297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вычетом комиссии Kaspi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3921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35050" y="4408140"/>
            <a:ext cx="3478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сервиса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3735050" y="4803428"/>
            <a:ext cx="347853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517803"/>
            <a:ext cx="347853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заканчивается с партией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47750" y="6546503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38275" y="6941790"/>
            <a:ext cx="31290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435301" y="6879878"/>
            <a:ext cx="10333137" cy="419100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06751" y="6879878"/>
            <a:ext cx="104716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$7,5 — 3 488 ₸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768438" y="6879878"/>
            <a:ext cx="857027" cy="41910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625465" y="6879878"/>
            <a:ext cx="612130" cy="419100"/>
          </a:xfrm>
          <a:prstGeom prst="rect">
            <a:avLst/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237595" y="6879878"/>
            <a:ext cx="612130" cy="419100"/>
          </a:xfrm>
          <a:prstGeom prst="rect">
            <a:avLst/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7750" y="7784753"/>
            <a:ext cx="17811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· упаковка 279 ₸ · логистика 186 ₸ · пошлина 73 ₸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5831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95425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207148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811735"/>
            <a:ext cx="5194325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94475" y="3240360"/>
            <a:ext cx="4728872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207148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93600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207148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47608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47750" y="7947571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30996" y="7687568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14315" y="7407548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297561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80881" y="6687443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64201" y="6847433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547521" y="7247483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0841" y="7647533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14161" y="8047583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0797480" y="8007623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880800" y="7767563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964120" y="7527578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4047440" y="7287518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5130760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214080" y="6767438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7750" y="8400008"/>
            <a:ext cx="6488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883947" y="8400008"/>
            <a:ext cx="26463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старт продаж · мес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553259" y="8400008"/>
            <a:ext cx="7631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09354"/>
            <a:ext cx="3135139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85554"/>
            <a:ext cx="28862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05 · Целевые группы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5229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86671"/>
            <a:ext cx="44005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7609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0" y="4081909"/>
            <a:ext cx="240982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224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10559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144500" y="48177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654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53509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144500" y="55606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83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96459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144500" y="63036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513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9409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144500" y="70465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1570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Минздрава и НЦОЗ · численность целевых групп, человек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607246"/>
            <a:ext cx="2960191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683446"/>
            <a:ext cx="27060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06 · Мобильное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69233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299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80608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76888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06419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39794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пишем, сколько ночей осталось; без ИИ-советника и оценки давления по браслету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85132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522390"/>
            <a:ext cx="16192500" cy="4279404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7275" y="3531915"/>
            <a:ext cx="16173450" cy="74295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0175" y="3760515"/>
            <a:ext cx="15027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6843" y="3777183"/>
            <a:ext cx="716186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Дистанционное наблюдение · 143 пациента · тревог за сутки: 3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57275" y="4274865"/>
            <a:ext cx="16173450" cy="604838"/>
          </a:xfrm>
          <a:prstGeom prst="rect">
            <a:avLst/>
          </a:prstGeom>
          <a:solidFill>
            <a:srgbClr val="F4F7F5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7275" y="4870177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00175" y="4465365"/>
            <a:ext cx="4439934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24215" y="4465365"/>
            <a:ext cx="2822593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34500" y="4465365"/>
            <a:ext cx="2822516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444710" y="4465365"/>
            <a:ext cx="4744810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7275" y="4879702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57275" y="5940698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00175" y="527208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279231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45894"/>
            <a:ext cx="1239441" cy="32385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86900" y="5303044"/>
            <a:ext cx="10108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27352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11219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00175" y="634260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49752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16414"/>
            <a:ext cx="1196429" cy="32385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86900" y="6373564"/>
            <a:ext cx="9678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197873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68394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275537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42200"/>
            <a:ext cx="1253133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486900" y="7299350"/>
            <a:ext cx="102453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280300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30747"/>
            <a:ext cx="31099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06947"/>
            <a:ext cx="28603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7368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85900" y="4146203"/>
            <a:ext cx="47777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22453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46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27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08328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398865"/>
            <a:ext cx="4343400" cy="442913"/>
          </a:xfrm>
          <a:prstGeom prst="roundRect">
            <a:avLst>
              <a:gd name="adj" fmla="val 21505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73149" y="6513165"/>
            <a:ext cx="416890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818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31978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55853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368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130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24682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41528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2252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59876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4187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447032"/>
            <a:ext cx="2955727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523232"/>
            <a:ext cx="270149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109020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936903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4775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43827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8692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без ИИ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с ИИ автоматически получает высший класс риска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823293"/>
            <a:ext cx="2241575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899493"/>
            <a:ext cx="19748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46623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581549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8275" y="3876824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883968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696867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8275" y="5144988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992142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6117878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38275" y="6413153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Поликлиники не готовы платить за мониторинг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420296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2–3 разговорами до заказа; иначе разворот в розницу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233196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38275" y="768131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528471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83308"/>
            <a:ext cx="9603038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614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65392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47750" y="7417817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 — дистанционное наблюдение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2026-08-31T15:13:43Z</dcterms:created>
  <dcterms:modified xsi:type="dcterms:W3CDTF">2026-08-31T15:13:43Z</dcterms:modified>
</cp:coreProperties>
</file>