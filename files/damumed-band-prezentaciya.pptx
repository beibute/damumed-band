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 носимое медизделие в Казахстане, дешевле массового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не браслет, а медицинский надзор. Деньги — от мониторинга и подписок.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Приказ обязывает клиники применять носимые устройства с 1 сентября 2026 — а предложения на рынке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экрана: дешевле, дольше держит батарею, проще сертификация. Сменные ремешки под мужчин и женщин.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Аргумент, который конкурентам нечем перебить: медизделие дешевле обычного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цены. Не зарабатываем на железе — зарабатываем на надзоре.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шаг вниз по цене оплачивается размером партии. Рекомендация — уровень I на 10 тыс или уровень II на 20 тыс.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Себестоимость 4 026 ₸. Вложения помимо партии — только регистрация и образцы.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15 месяцев — вложения без выручки. Выход в ноль — 21-й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группы: браслет даёт осмысленный сигнал и группа велика.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Браслет без экрана — продукт живёт в приложении. Личный коридор, три уровня раскрытия, честная калибровка.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— не добавить врачу работы. Зелёные не отвлекают, красные всплывают с готовым контекстом.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Решает не цена, а доступ к данным и система качества. J-Style — единственный готовый к регистрации.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2а, национальная процедура, держатель — Damumed. Без ЭКГ и без ИИ, чтобы не поднять класс.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снимается конкретным решением до предоплаты или пилотом.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Единственное носимое медизделие в РК, встроенное в медкарту и рабочее место врача, дешевле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7250" y="1133475"/>
            <a:ext cx="104775" cy="104775"/>
          </a:xfrm>
          <a:prstGeom prst="ellipse">
            <a:avLst/>
          </a:prstGeom>
          <a:solidFill>
            <a:srgbClr val="3ECF8E"/>
          </a:solidFill>
          <a:ln/>
        </p:spPr>
      </p:sp>
      <p:sp>
        <p:nvSpPr>
          <p:cNvPr id="3" name="Text 1"/>
          <p:cNvSpPr/>
          <p:nvPr/>
        </p:nvSpPr>
        <p:spPr>
          <a:xfrm>
            <a:off x="1076325" y="1047750"/>
            <a:ext cx="424184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Аналитический отчёт · август 2026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57250" y="2434754"/>
            <a:ext cx="8123224" cy="2427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333"/>
              </a:lnSpc>
              <a:buNone/>
            </a:pPr>
            <a:r>
              <a:rPr lang="en-US" sz="9600" b="1" spc="-288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857250" y="5129138"/>
            <a:ext cx="4549812" cy="1446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для контроля здоровья под собственным брендом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57250" y="7648575"/>
            <a:ext cx="468057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857250" y="7943850"/>
            <a:ext cx="4820987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дешевле массового фитнес-трекера — производство, регистрация и экономика первой партии</a:t>
            </a:r>
            <a:endParaRPr lang="en-US" sz="19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15468" r="15468" t="0" b="0"/>
          <a:stretch/>
        </p:blipFill>
        <p:spPr>
          <a:xfrm>
            <a:off x="9601126" y="0"/>
            <a:ext cx="86868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79427"/>
            <a:ext cx="25733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155627"/>
            <a:ext cx="230761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01 · Замысел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41414"/>
            <a:ext cx="7946708" cy="1437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154"/>
              </a:lnSpc>
              <a:buNone/>
            </a:pPr>
            <a:r>
              <a:rPr lang="en-US" sz="5100" b="1" spc="-102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Продаём не браслет, а медицинский надзор</a:t>
            </a:r>
            <a:endParaRPr lang="en-US" sz="5100" dirty="0"/>
          </a:p>
        </p:txBody>
      </p:sp>
      <p:sp>
        <p:nvSpPr>
          <p:cNvPr id="5" name="Text 3"/>
          <p:cNvSpPr/>
          <p:nvPr/>
        </p:nvSpPr>
        <p:spPr>
          <a:xfrm>
            <a:off x="1047750" y="4464248"/>
            <a:ext cx="5839312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 идёт с минимальной наценкой. Деньги приходят от мониторинга и подписок, а не от железа.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667404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</p:sp>
      <p:sp>
        <p:nvSpPr>
          <p:cNvPr id="7" name="Text 5"/>
          <p:cNvSpPr/>
          <p:nvPr/>
        </p:nvSpPr>
        <p:spPr>
          <a:xfrm>
            <a:off x="1314450" y="6559748"/>
            <a:ext cx="780573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Контрактное производство без экрана — по образцу Whoop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1047750" y="7159823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</p:sp>
      <p:sp>
        <p:nvSpPr>
          <p:cNvPr id="9" name="Text 7"/>
          <p:cNvSpPr/>
          <p:nvPr/>
        </p:nvSpPr>
        <p:spPr>
          <a:xfrm>
            <a:off x="1314450" y="7045523"/>
            <a:ext cx="7672007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Регистрируем как </a:t>
            </a:r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держатель — Damumed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047750" y="798849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</p:sp>
      <p:sp>
        <p:nvSpPr>
          <p:cNvPr id="11" name="Text 9"/>
          <p:cNvSpPr/>
          <p:nvPr/>
        </p:nvSpPr>
        <p:spPr>
          <a:xfrm>
            <a:off x="1314450" y="7874198"/>
            <a:ext cx="818816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идут в приложение Damumed и на панель врача в МИС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525000" y="1238250"/>
            <a:ext cx="7715250" cy="7810500"/>
          </a:xfrm>
          <a:prstGeom prst="roundRect">
            <a:avLst>
              <a:gd name="adj" fmla="val 2963"/>
            </a:avLst>
          </a:prstGeom>
          <a:ln/>
          <a:effectLst>
            <a:outerShdw sx="100000" sy="100000" kx="0" ky="0" algn="bl" rotWithShape="0" blurRad="666750" dist="285750" dir="5400000">
              <a:srgbClr val="0B3D2C">
                <a:alpha val="18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23082" r="23082" t="0" b="0"/>
          <a:stretch/>
        </p:blipFill>
        <p:spPr>
          <a:xfrm>
            <a:off x="9525000" y="1238250"/>
            <a:ext cx="7715250" cy="7810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162994"/>
            <a:ext cx="1942802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239194"/>
            <a:ext cx="16761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63081"/>
            <a:ext cx="11632714" cy="1693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468"/>
              </a:lnSpc>
              <a:buNone/>
            </a:pPr>
            <a:r>
              <a:rPr lang="en-US" sz="6150" b="1" spc="-12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 вступает в силу — предложения на рынке нет</a:t>
            </a:r>
            <a:endParaRPr lang="en-US" sz="6150" dirty="0"/>
          </a:p>
        </p:txBody>
      </p:sp>
      <p:sp>
        <p:nvSpPr>
          <p:cNvPr id="5" name="Shape 3"/>
          <p:cNvSpPr/>
          <p:nvPr/>
        </p:nvSpPr>
        <p:spPr>
          <a:xfrm>
            <a:off x="104775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9542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Приказ № ҚР ДСМ-39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495425" y="6152331"/>
            <a:ext cx="725995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1 сентября 2026 года медорганизации обязаны применять носимые устройства и передавать показатели в цифровые системы.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29640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4407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 млн пациентов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9744075" y="6152331"/>
            <a:ext cx="7259955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Программа управления заболеваниями покрывает наши диагнозы — гипертонию, диабет 2 типа, сердечную недостаточность. Носимых медизделий на рынке РК сегодня нет.</a:t>
            </a:r>
            <a:endParaRPr lang="en-US" sz="20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1538808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1028700"/>
            <a:ext cx="127210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595438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Корпус без экрана, сменный ремешок</a:t>
            </a:r>
            <a:endParaRPr lang="en-US" sz="46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6400" r="6400" t="0" b="0"/>
          <a:stretch/>
        </p:blipFill>
        <p:spPr>
          <a:xfrm>
            <a:off x="1047750" y="2634555"/>
            <a:ext cx="7924800" cy="495300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rcRect l="6400" r="6400" t="0" b="0"/>
          <a:stretch/>
        </p:blipFill>
        <p:spPr>
          <a:xfrm>
            <a:off x="9315450" y="2634555"/>
            <a:ext cx="7924800" cy="4953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775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32397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Пульс · ВСР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132397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оптические датчики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15302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42925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SpO₂ · темп.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542925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кислород и кожа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925830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53452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IP68</a:t>
            </a:r>
            <a:endParaRPr lang="en-US" sz="2250" dirty="0"/>
          </a:p>
        </p:txBody>
      </p:sp>
      <p:sp>
        <p:nvSpPr>
          <p:cNvPr id="15" name="Text 11"/>
          <p:cNvSpPr/>
          <p:nvPr/>
        </p:nvSpPr>
        <p:spPr>
          <a:xfrm>
            <a:off x="953452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батарея 5–7 дней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1336357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363980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25 г</a:t>
            </a:r>
            <a:endParaRPr lang="en-US" sz="2250" dirty="0"/>
          </a:p>
        </p:txBody>
      </p:sp>
      <p:sp>
        <p:nvSpPr>
          <p:cNvPr id="18" name="Text 14"/>
          <p:cNvSpPr/>
          <p:nvPr/>
        </p:nvSpPr>
        <p:spPr>
          <a:xfrm>
            <a:off x="1363980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алюминий, 40 мм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13645"/>
            <a:ext cx="2169021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089845"/>
            <a:ext cx="190232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02 · Цена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656582"/>
            <a:ext cx="8118932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Медизделие дешевле фитнес-браслета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522887"/>
            <a:ext cx="37719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705350" y="4430018"/>
            <a:ext cx="2564829" cy="495300"/>
          </a:xfrm>
          <a:prstGeom prst="roundRect">
            <a:avLst>
              <a:gd name="adj" fmla="val 19231"/>
            </a:avLst>
          </a:prstGeom>
          <a:solidFill>
            <a:srgbClr val="0E7A50"/>
          </a:solidFill>
          <a:ln/>
        </p:spPr>
      </p:sp>
      <p:sp>
        <p:nvSpPr>
          <p:cNvPr id="7" name="Text 5"/>
          <p:cNvSpPr/>
          <p:nvPr/>
        </p:nvSpPr>
        <p:spPr>
          <a:xfrm>
            <a:off x="12477750" y="4503837"/>
            <a:ext cx="209550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52039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Huawei Band 10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705350" y="5115818"/>
            <a:ext cx="286657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</p:sp>
      <p:sp>
        <p:nvSpPr>
          <p:cNvPr id="10" name="Text 8"/>
          <p:cNvSpPr/>
          <p:nvPr/>
        </p:nvSpPr>
        <p:spPr>
          <a:xfrm>
            <a:off x="12477750" y="51920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16 890 ₸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47750" y="58897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Xiaomi Smart Band 10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705350" y="5801618"/>
            <a:ext cx="3771900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</p:sp>
      <p:sp>
        <p:nvSpPr>
          <p:cNvPr id="13" name="Text 11"/>
          <p:cNvSpPr/>
          <p:nvPr/>
        </p:nvSpPr>
        <p:spPr>
          <a:xfrm>
            <a:off x="12477750" y="58778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21 989 ₸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047750" y="65755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Galaxy Fit3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705350" y="6487418"/>
            <a:ext cx="3847281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</p:sp>
      <p:sp>
        <p:nvSpPr>
          <p:cNvPr id="16" name="Text 14"/>
          <p:cNvSpPr/>
          <p:nvPr/>
        </p:nvSpPr>
        <p:spPr>
          <a:xfrm>
            <a:off x="12477750" y="65636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22 299 ₸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47750" y="72613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Honor Band 9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705350" y="7173218"/>
            <a:ext cx="595959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</p:sp>
      <p:sp>
        <p:nvSpPr>
          <p:cNvPr id="19" name="Text 17"/>
          <p:cNvSpPr/>
          <p:nvPr/>
        </p:nvSpPr>
        <p:spPr>
          <a:xfrm>
            <a:off x="12477750" y="72494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34 880 ₸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047750" y="8011418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Розничные цены, Kaspi, проверено 31 августа 2026 · на треть ниже Xiaomi Band 10</a:t>
            </a:r>
            <a:endParaRPr lang="en-US" sz="17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22364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цены, ни одной случайной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337705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76375" y="37675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в рознице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76375" y="415810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14 990 ₸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476375" y="491534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рассрочку на год — 1 250 ₸/мес</a:t>
            </a:r>
            <a:endParaRPr lang="en-US" sz="1725" dirty="0"/>
          </a:p>
        </p:txBody>
      </p:sp>
      <p:sp>
        <p:nvSpPr>
          <p:cNvPr id="7" name="Shape 5"/>
          <p:cNvSpPr/>
          <p:nvPr/>
        </p:nvSpPr>
        <p:spPr>
          <a:xfrm>
            <a:off x="9296400" y="337705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25025" y="37675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Подписка «медицинский надзор»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25025" y="415810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/мес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725025" y="491534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ниже любой психологической планки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047750" y="587260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7637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поликлинике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7637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6 900 ₸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476375" y="741089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оснащение участка без сложных процедур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9296400" y="587260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2502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Мониторинг для поликлиники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72502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/пациент/мес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9725025" y="741089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менее трети подушевого норматива</a:t>
            </a:r>
            <a:endParaRPr lang="en-US" sz="17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88803"/>
            <a:ext cx="3774504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165003"/>
            <a:ext cx="35448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03 · Три ценовых уровня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31740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Цену вниз оплачивает размер партии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1047750" y="3768998"/>
            <a:ext cx="16192500" cy="3400425"/>
          </a:xfrm>
          <a:prstGeom prst="roundRect">
            <a:avLst>
              <a:gd name="adj" fmla="val 560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7275" y="3778523"/>
            <a:ext cx="16173450" cy="719138"/>
          </a:xfrm>
          <a:prstGeom prst="rect">
            <a:avLst/>
          </a:prstGeom>
          <a:solidFill>
            <a:srgbClr val="0B3D2C"/>
          </a:solidFill>
          <a:ln/>
        </p:spPr>
      </p:sp>
      <p:sp>
        <p:nvSpPr>
          <p:cNvPr id="7" name="Text 5"/>
          <p:cNvSpPr/>
          <p:nvPr/>
        </p:nvSpPr>
        <p:spPr>
          <a:xfrm>
            <a:off x="1362075" y="4007123"/>
            <a:ext cx="347642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4789" y="4007123"/>
            <a:ext cx="27621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Розница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66435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318007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10 тыс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69579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20 тыс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57275" y="4497660"/>
            <a:ext cx="16173450" cy="890588"/>
          </a:xfrm>
          <a:prstGeom prst="rect">
            <a:avLst/>
          </a:prstGeom>
          <a:solidFill>
            <a:srgbClr val="E8F5F0"/>
          </a:solidFill>
          <a:ln/>
        </p:spPr>
      </p:sp>
      <p:sp>
        <p:nvSpPr>
          <p:cNvPr id="13" name="Shape 11"/>
          <p:cNvSpPr/>
          <p:nvPr/>
        </p:nvSpPr>
        <p:spPr>
          <a:xfrm>
            <a:off x="1057275" y="5378723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</p:sp>
      <p:sp>
        <p:nvSpPr>
          <p:cNvPr id="14" name="Text 12"/>
          <p:cNvSpPr/>
          <p:nvPr/>
        </p:nvSpPr>
        <p:spPr>
          <a:xfrm>
            <a:off x="1362075" y="4783410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I. Текущий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214789" y="4783410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8266435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6 900 ₸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318007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+20,0 млн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4369579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+93,9 млн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57275" y="6269310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</p:sp>
      <p:sp>
        <p:nvSpPr>
          <p:cNvPr id="20" name="Text 18"/>
          <p:cNvSpPr/>
          <p:nvPr/>
        </p:nvSpPr>
        <p:spPr>
          <a:xfrm>
            <a:off x="1362075" y="5673998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II. Ниже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214789" y="5673998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11 990 ₸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8266435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5 500 ₸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318007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−3,4 млн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369579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+47,2 млн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62075" y="6564585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III. Ещё ниже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5214789" y="6564585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9 990 ₸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8266435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4 500 ₸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1318007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−20,8 млн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4369579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+12,5 млн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047750" y="7474223"/>
            <a:ext cx="1236154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Рекомендация: </a:t>
            </a:r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I на партии 10 000 — осторожный вход, либо уровень II на партии 20 000 — ставка на охват.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49835"/>
            <a:ext cx="2783830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326035"/>
            <a:ext cx="25244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04 · Экономика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92772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Низкая цена — потому что софт свой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001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на складе</a:t>
            </a:r>
            <a:endParaRPr lang="en-US" sz="1725" dirty="0"/>
          </a:p>
        </p:txBody>
      </p:sp>
      <p:sp>
        <p:nvSpPr>
          <p:cNvPr id="7" name="Text 5"/>
          <p:cNvSpPr/>
          <p:nvPr/>
        </p:nvSpPr>
        <p:spPr>
          <a:xfrm>
            <a:off x="14001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4 026 ₸</a:t>
            </a:r>
            <a:endParaRPr lang="en-US" sz="4350" dirty="0"/>
          </a:p>
        </p:txBody>
      </p:sp>
      <p:sp>
        <p:nvSpPr>
          <p:cNvPr id="8" name="Shape 6"/>
          <p:cNvSpPr/>
          <p:nvPr/>
        </p:nvSpPr>
        <p:spPr>
          <a:xfrm>
            <a:off x="51625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149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55149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</a:t>
            </a:r>
            <a:pPr algn="l" indent="0" marL="0">
              <a:buNone/>
            </a:pPr>
            <a:r>
              <a:rPr lang="en-US" sz="24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514975" y="5527328"/>
            <a:ext cx="34575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40 + регистрация 18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2773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297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в рознице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96297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8 900 ₸</a:t>
            </a:r>
            <a:endParaRPr lang="en-US" sz="4350" dirty="0"/>
          </a:p>
        </p:txBody>
      </p:sp>
      <p:sp>
        <p:nvSpPr>
          <p:cNvPr id="15" name="Text 13"/>
          <p:cNvSpPr/>
          <p:nvPr/>
        </p:nvSpPr>
        <p:spPr>
          <a:xfrm>
            <a:off x="9629775" y="5527328"/>
            <a:ext cx="34575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вычетом комиссии Kaspi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33921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0E7A50"/>
          </a:solidFill>
          <a:ln/>
        </p:spPr>
      </p:sp>
      <p:sp>
        <p:nvSpPr>
          <p:cNvPr id="17" name="Text 15"/>
          <p:cNvSpPr/>
          <p:nvPr/>
        </p:nvSpPr>
        <p:spPr>
          <a:xfrm>
            <a:off x="13735050" y="4408140"/>
            <a:ext cx="34785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сервиса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3735050" y="4803428"/>
            <a:ext cx="347853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₸/мес</a:t>
            </a:r>
            <a:endParaRPr lang="en-US" sz="4350" dirty="0"/>
          </a:p>
        </p:txBody>
      </p:sp>
      <p:sp>
        <p:nvSpPr>
          <p:cNvPr id="19" name="Text 17"/>
          <p:cNvSpPr/>
          <p:nvPr/>
        </p:nvSpPr>
        <p:spPr>
          <a:xfrm>
            <a:off x="13735050" y="5517803"/>
            <a:ext cx="347853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заканчивается с партией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047750" y="6546503"/>
            <a:ext cx="16192500" cy="108585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38275" y="6941790"/>
            <a:ext cx="31290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4 026 ₸: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4435301" y="6879878"/>
            <a:ext cx="10333137" cy="419100"/>
          </a:xfrm>
          <a:prstGeom prst="rect">
            <a:avLst/>
          </a:prstGeom>
          <a:solidFill>
            <a:srgbClr val="0B3D2C"/>
          </a:solidFill>
          <a:ln/>
        </p:spPr>
      </p:sp>
      <p:sp>
        <p:nvSpPr>
          <p:cNvPr id="23" name="Text 21"/>
          <p:cNvSpPr/>
          <p:nvPr/>
        </p:nvSpPr>
        <p:spPr>
          <a:xfrm>
            <a:off x="4606751" y="6879878"/>
            <a:ext cx="1047168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$7,5 — 3 488 ₸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4768438" y="6879878"/>
            <a:ext cx="857027" cy="419100"/>
          </a:xfrm>
          <a:prstGeom prst="rect">
            <a:avLst/>
          </a:prstGeom>
          <a:solidFill>
            <a:srgbClr val="0E7A50"/>
          </a:solidFill>
          <a:ln/>
        </p:spPr>
      </p:sp>
      <p:sp>
        <p:nvSpPr>
          <p:cNvPr id="25" name="Shape 23"/>
          <p:cNvSpPr/>
          <p:nvPr/>
        </p:nvSpPr>
        <p:spPr>
          <a:xfrm>
            <a:off x="15625465" y="6879878"/>
            <a:ext cx="612130" cy="419100"/>
          </a:xfrm>
          <a:prstGeom prst="rect">
            <a:avLst/>
          </a:prstGeom>
          <a:solidFill>
            <a:srgbClr val="3AAF7C"/>
          </a:solidFill>
          <a:ln/>
        </p:spPr>
      </p:sp>
      <p:sp>
        <p:nvSpPr>
          <p:cNvPr id="26" name="Shape 24"/>
          <p:cNvSpPr/>
          <p:nvPr/>
        </p:nvSpPr>
        <p:spPr>
          <a:xfrm>
            <a:off x="16237595" y="6879878"/>
            <a:ext cx="612130" cy="419100"/>
          </a:xfrm>
          <a:prstGeom prst="rect">
            <a:avLst/>
          </a:prstGeom>
          <a:solidFill>
            <a:srgbClr val="A9D9C0"/>
          </a:solidFill>
          <a:ln/>
        </p:spPr>
      </p:sp>
      <p:sp>
        <p:nvSpPr>
          <p:cNvPr id="27" name="Text 25"/>
          <p:cNvSpPr/>
          <p:nvPr/>
        </p:nvSpPr>
        <p:spPr>
          <a:xfrm>
            <a:off x="1047750" y="7784753"/>
            <a:ext cx="17811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· упаковка 279 ₸ · логистика 186 ₸ · пошлина 73 ₸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658317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во времени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2811735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95425" y="3240360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мес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495425" y="4207148"/>
            <a:ext cx="4427867" cy="107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 без выручки: производство, регистрация, разработка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546800" y="2811735"/>
            <a:ext cx="5194325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94475" y="3240360"/>
            <a:ext cx="4728872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мес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6994475" y="4207148"/>
            <a:ext cx="442794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в ноль от подписания контракта с заводом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045925" y="2811735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493600" y="3240360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 млн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12493600" y="4207148"/>
            <a:ext cx="4427867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к 24 мес · при партии 20 тыс — +94 млн ₸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47750" y="8247608"/>
            <a:ext cx="1619250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7750" y="7947571"/>
            <a:ext cx="1026096" cy="300038"/>
          </a:xfrm>
          <a:custGeom>
            <a:avLst/>
            <a:gdLst/>
            <a:ahLst/>
            <a:cxnLst/>
            <a:rect l="l" t="t" r="r" b="b"/>
            <a:pathLst>
              <a:path w="1026096" h="300038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300038"/>
                </a:lnTo>
                <a:lnTo>
                  <a:pt x="0" y="300038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14" name="Shape 12"/>
          <p:cNvSpPr/>
          <p:nvPr/>
        </p:nvSpPr>
        <p:spPr>
          <a:xfrm>
            <a:off x="2130996" y="7687568"/>
            <a:ext cx="1026170" cy="560040"/>
          </a:xfrm>
          <a:custGeom>
            <a:avLst/>
            <a:gdLst/>
            <a:ahLst/>
            <a:cxnLst/>
            <a:rect l="l" t="t" r="r" b="b"/>
            <a:pathLst>
              <a:path w="1026170" h="56004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560040"/>
                </a:lnTo>
                <a:lnTo>
                  <a:pt x="0" y="56004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15" name="Shape 13"/>
          <p:cNvSpPr/>
          <p:nvPr/>
        </p:nvSpPr>
        <p:spPr>
          <a:xfrm>
            <a:off x="3214315" y="7407548"/>
            <a:ext cx="1026096" cy="840060"/>
          </a:xfrm>
          <a:custGeom>
            <a:avLst/>
            <a:gdLst/>
            <a:ahLst/>
            <a:cxnLst/>
            <a:rect l="l" t="t" r="r" b="b"/>
            <a:pathLst>
              <a:path w="1026096" h="840060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840060"/>
                </a:lnTo>
                <a:lnTo>
                  <a:pt x="0" y="84006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7561" y="7047458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17" name="Shape 15"/>
          <p:cNvSpPr/>
          <p:nvPr/>
        </p:nvSpPr>
        <p:spPr>
          <a:xfrm>
            <a:off x="5380881" y="6687443"/>
            <a:ext cx="1026170" cy="1560165"/>
          </a:xfrm>
          <a:custGeom>
            <a:avLst/>
            <a:gdLst/>
            <a:ahLst/>
            <a:cxnLst/>
            <a:rect l="l" t="t" r="r" b="b"/>
            <a:pathLst>
              <a:path w="1026170" h="156016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560165"/>
                </a:lnTo>
                <a:lnTo>
                  <a:pt x="0" y="156016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18" name="Shape 16"/>
          <p:cNvSpPr/>
          <p:nvPr/>
        </p:nvSpPr>
        <p:spPr>
          <a:xfrm>
            <a:off x="6464201" y="6847433"/>
            <a:ext cx="1026170" cy="1400175"/>
          </a:xfrm>
          <a:custGeom>
            <a:avLst/>
            <a:gdLst/>
            <a:ahLst/>
            <a:cxnLst/>
            <a:rect l="l" t="t" r="r" b="b"/>
            <a:pathLst>
              <a:path w="1026170" h="14001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00175"/>
                </a:lnTo>
                <a:lnTo>
                  <a:pt x="0" y="14001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19" name="Shape 17"/>
          <p:cNvSpPr/>
          <p:nvPr/>
        </p:nvSpPr>
        <p:spPr>
          <a:xfrm>
            <a:off x="7547521" y="7247483"/>
            <a:ext cx="1026170" cy="1000125"/>
          </a:xfrm>
          <a:custGeom>
            <a:avLst/>
            <a:gdLst/>
            <a:ahLst/>
            <a:cxnLst/>
            <a:rect l="l" t="t" r="r" b="b"/>
            <a:pathLst>
              <a:path w="1026170" h="10001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000125"/>
                </a:lnTo>
                <a:lnTo>
                  <a:pt x="0" y="10001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20" name="Shape 18"/>
          <p:cNvSpPr/>
          <p:nvPr/>
        </p:nvSpPr>
        <p:spPr>
          <a:xfrm>
            <a:off x="8630841" y="7647533"/>
            <a:ext cx="1026170" cy="600075"/>
          </a:xfrm>
          <a:custGeom>
            <a:avLst/>
            <a:gdLst/>
            <a:ahLst/>
            <a:cxnLst/>
            <a:rect l="l" t="t" r="r" b="b"/>
            <a:pathLst>
              <a:path w="1026170" h="6000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600075"/>
                </a:lnTo>
                <a:lnTo>
                  <a:pt x="0" y="6000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</p:sp>
      <p:sp>
        <p:nvSpPr>
          <p:cNvPr id="21" name="Shape 19"/>
          <p:cNvSpPr/>
          <p:nvPr/>
        </p:nvSpPr>
        <p:spPr>
          <a:xfrm>
            <a:off x="9714161" y="8047583"/>
            <a:ext cx="1026170" cy="200025"/>
          </a:xfrm>
          <a:custGeom>
            <a:avLst/>
            <a:gdLst/>
            <a:ahLst/>
            <a:cxnLst/>
            <a:rect l="l" t="t" r="r" b="b"/>
            <a:pathLst>
              <a:path w="1026170" h="2000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00025"/>
                </a:lnTo>
                <a:lnTo>
                  <a:pt x="0" y="2000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E0A38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797480" y="8007623"/>
            <a:ext cx="1026170" cy="239985"/>
          </a:xfrm>
          <a:custGeom>
            <a:avLst/>
            <a:gdLst/>
            <a:ahLst/>
            <a:cxnLst/>
            <a:rect l="l" t="t" r="r" b="b"/>
            <a:pathLst>
              <a:path w="1026170" h="23998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39985"/>
                </a:lnTo>
                <a:lnTo>
                  <a:pt x="0" y="23998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80800" y="7767563"/>
            <a:ext cx="1026170" cy="480045"/>
          </a:xfrm>
          <a:custGeom>
            <a:avLst/>
            <a:gdLst/>
            <a:ahLst/>
            <a:cxnLst/>
            <a:rect l="l" t="t" r="r" b="b"/>
            <a:pathLst>
              <a:path w="1026170" h="48004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480045"/>
                </a:lnTo>
                <a:lnTo>
                  <a:pt x="0" y="48004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</p:sp>
      <p:sp>
        <p:nvSpPr>
          <p:cNvPr id="24" name="Shape 22"/>
          <p:cNvSpPr/>
          <p:nvPr/>
        </p:nvSpPr>
        <p:spPr>
          <a:xfrm>
            <a:off x="12964120" y="7527578"/>
            <a:ext cx="1026170" cy="720030"/>
          </a:xfrm>
          <a:custGeom>
            <a:avLst/>
            <a:gdLst/>
            <a:ahLst/>
            <a:cxnLst/>
            <a:rect l="l" t="t" r="r" b="b"/>
            <a:pathLst>
              <a:path w="1026170" h="72003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720030"/>
                </a:lnTo>
                <a:lnTo>
                  <a:pt x="0" y="72003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</p:sp>
      <p:sp>
        <p:nvSpPr>
          <p:cNvPr id="25" name="Shape 23"/>
          <p:cNvSpPr/>
          <p:nvPr/>
        </p:nvSpPr>
        <p:spPr>
          <a:xfrm>
            <a:off x="14047440" y="7287518"/>
            <a:ext cx="1026170" cy="960090"/>
          </a:xfrm>
          <a:custGeom>
            <a:avLst/>
            <a:gdLst/>
            <a:ahLst/>
            <a:cxnLst/>
            <a:rect l="l" t="t" r="r" b="b"/>
            <a:pathLst>
              <a:path w="1026170" h="96009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960090"/>
                </a:lnTo>
                <a:lnTo>
                  <a:pt x="0" y="96009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</p:sp>
      <p:sp>
        <p:nvSpPr>
          <p:cNvPr id="26" name="Shape 24"/>
          <p:cNvSpPr/>
          <p:nvPr/>
        </p:nvSpPr>
        <p:spPr>
          <a:xfrm>
            <a:off x="15130760" y="7047458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</p:sp>
      <p:sp>
        <p:nvSpPr>
          <p:cNvPr id="27" name="Shape 25"/>
          <p:cNvSpPr/>
          <p:nvPr/>
        </p:nvSpPr>
        <p:spPr>
          <a:xfrm>
            <a:off x="16214080" y="6767438"/>
            <a:ext cx="1026170" cy="1480170"/>
          </a:xfrm>
          <a:custGeom>
            <a:avLst/>
            <a:gdLst/>
            <a:ahLst/>
            <a:cxnLst/>
            <a:rect l="l" t="t" r="r" b="b"/>
            <a:pathLst>
              <a:path w="1026170" h="148017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80170"/>
                </a:lnTo>
                <a:lnTo>
                  <a:pt x="0" y="148017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</p:sp>
      <p:sp>
        <p:nvSpPr>
          <p:cNvPr id="28" name="Text 26"/>
          <p:cNvSpPr/>
          <p:nvPr/>
        </p:nvSpPr>
        <p:spPr>
          <a:xfrm>
            <a:off x="1047750" y="8400008"/>
            <a:ext cx="6488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883947" y="8400008"/>
            <a:ext cx="264638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старт продаж · мес 16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553259" y="8400008"/>
            <a:ext cx="7631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36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09354"/>
            <a:ext cx="3135139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285554"/>
            <a:ext cx="28862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05 · Кому продаём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5229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Пациенты на диспансерном учёте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086671"/>
            <a:ext cx="44005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Гипертония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5295900" y="3967609"/>
            <a:ext cx="7600950" cy="533400"/>
          </a:xfrm>
          <a:prstGeom prst="roundRect">
            <a:avLst>
              <a:gd name="adj" fmla="val 17857"/>
            </a:avLst>
          </a:prstGeom>
          <a:solidFill>
            <a:srgbClr val="0E7A50"/>
          </a:solidFill>
          <a:ln/>
        </p:spPr>
      </p:sp>
      <p:sp>
        <p:nvSpPr>
          <p:cNvPr id="7" name="Text 5"/>
          <p:cNvSpPr/>
          <p:nvPr/>
        </p:nvSpPr>
        <p:spPr>
          <a:xfrm>
            <a:off x="13144500" y="4081909"/>
            <a:ext cx="240982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1 776 876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" y="48224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Диабет 2 типа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5295900" y="4710559"/>
            <a:ext cx="2128242" cy="533400"/>
          </a:xfrm>
          <a:prstGeom prst="roundRect">
            <a:avLst>
              <a:gd name="adj" fmla="val 17857"/>
            </a:avLst>
          </a:prstGeom>
          <a:solidFill>
            <a:srgbClr val="3AAF7C"/>
          </a:solidFill>
          <a:ln/>
        </p:spPr>
      </p:sp>
      <p:sp>
        <p:nvSpPr>
          <p:cNvPr id="10" name="Text 8"/>
          <p:cNvSpPr/>
          <p:nvPr/>
        </p:nvSpPr>
        <p:spPr>
          <a:xfrm>
            <a:off x="13144500" y="48177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492 335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" y="55654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Астма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5295900" y="5453509"/>
            <a:ext cx="532061" cy="533400"/>
          </a:xfrm>
          <a:prstGeom prst="roundRect">
            <a:avLst>
              <a:gd name="adj" fmla="val 17902"/>
            </a:avLst>
          </a:prstGeom>
          <a:solidFill>
            <a:srgbClr val="7BC7A0"/>
          </a:solidFill>
          <a:ln/>
        </p:spPr>
      </p:sp>
      <p:sp>
        <p:nvSpPr>
          <p:cNvPr id="13" name="Text 11"/>
          <p:cNvSpPr/>
          <p:nvPr/>
        </p:nvSpPr>
        <p:spPr>
          <a:xfrm>
            <a:off x="13144500" y="55606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110 000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7750" y="63083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Лёгочная болезнь (ХОБЛ)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5295900" y="6196459"/>
            <a:ext cx="380033" cy="533400"/>
          </a:xfrm>
          <a:prstGeom prst="roundRect">
            <a:avLst>
              <a:gd name="adj" fmla="val 25064"/>
            </a:avLst>
          </a:prstGeom>
          <a:solidFill>
            <a:srgbClr val="A9D9C0"/>
          </a:solidFill>
          <a:ln/>
        </p:spPr>
      </p:sp>
      <p:sp>
        <p:nvSpPr>
          <p:cNvPr id="16" name="Text 14"/>
          <p:cNvSpPr/>
          <p:nvPr/>
        </p:nvSpPr>
        <p:spPr>
          <a:xfrm>
            <a:off x="13144500" y="63036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70 000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47750" y="70513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Сердечная недостаточность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5295900" y="6939409"/>
            <a:ext cx="228005" cy="533400"/>
          </a:xfrm>
          <a:prstGeom prst="roundRect">
            <a:avLst>
              <a:gd name="adj" fmla="val 41775"/>
            </a:avLst>
          </a:prstGeom>
          <a:solidFill>
            <a:srgbClr val="C7E5D5"/>
          </a:solidFill>
          <a:ln/>
        </p:spPr>
      </p:sp>
      <p:sp>
        <p:nvSpPr>
          <p:cNvPr id="19" name="Text 17"/>
          <p:cNvSpPr/>
          <p:nvPr/>
        </p:nvSpPr>
        <p:spPr>
          <a:xfrm>
            <a:off x="13144500" y="70465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37 485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47750" y="7815709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Минздрава и НЦОЗ · численность целевых групп, человек</a:t>
            </a:r>
            <a:endParaRPr lang="en-US" sz="17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607246"/>
            <a:ext cx="2960191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683446"/>
            <a:ext cx="270609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06 · Приложение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269233"/>
            <a:ext cx="8364891" cy="1330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299"/>
              </a:lnSpc>
              <a:buNone/>
            </a:pPr>
            <a:r>
              <a:rPr lang="en-US" sz="4800" b="1" spc="-96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целиком живёт в приложении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47750" y="4980608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Личный коридор, а не норма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047750" y="5313983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«выше вашего обычного», а не «пульс 68»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" y="5843513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уровня раскрытия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047750" y="6176888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→ тренд → сырые данные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7750" y="6706419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 калибровка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1047750" y="7039794"/>
            <a:ext cx="8364891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пишем, сколько ночей осталось; без ИИ-советника и оценки давления по браслету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931003" y="1524000"/>
            <a:ext cx="7309247" cy="7239000"/>
          </a:xfrm>
          <a:prstGeom prst="roundRect">
            <a:avLst>
              <a:gd name="adj" fmla="val 3158"/>
            </a:avLst>
          </a:prstGeom>
          <a:ln/>
          <a:effectLst>
            <a:outerShdw sx="100000" sy="100000" kx="0" ky="0" algn="bl" rotWithShape="0" blurRad="666750" dist="28575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16261" b="16261"/>
          <a:stretch/>
        </p:blipFill>
        <p:spPr>
          <a:xfrm>
            <a:off x="9931003" y="1524000"/>
            <a:ext cx="7309247" cy="723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485132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врача — не добавить работы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522390"/>
            <a:ext cx="16192500" cy="4279404"/>
          </a:xfrm>
          <a:prstGeom prst="roundRect">
            <a:avLst>
              <a:gd name="adj" fmla="val 445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  <a:effectLst>
            <a:outerShdw sx="100000" sy="100000" kx="0" ky="0" algn="bl" rotWithShape="0" blurRad="476250" dist="190500" dir="5400000">
              <a:srgbClr val="0B3D2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7275" y="3531915"/>
            <a:ext cx="16173450" cy="742950"/>
          </a:xfrm>
          <a:prstGeom prst="rect">
            <a:avLst/>
          </a:prstGeom>
          <a:solidFill>
            <a:srgbClr val="0E7A50"/>
          </a:solidFill>
          <a:ln/>
        </p:spPr>
      </p:sp>
      <p:sp>
        <p:nvSpPr>
          <p:cNvPr id="5" name="Text 3"/>
          <p:cNvSpPr/>
          <p:nvPr/>
        </p:nvSpPr>
        <p:spPr>
          <a:xfrm>
            <a:off x="1400175" y="3760515"/>
            <a:ext cx="15027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9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956843" y="3777183"/>
            <a:ext cx="716186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Дистанционное наблюдение · 143 пациента · тревог за сутки: 3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57275" y="4274865"/>
            <a:ext cx="16173450" cy="604838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8" name="Shape 6"/>
          <p:cNvSpPr/>
          <p:nvPr/>
        </p:nvSpPr>
        <p:spPr>
          <a:xfrm>
            <a:off x="1057275" y="4870177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</p:sp>
      <p:sp>
        <p:nvSpPr>
          <p:cNvPr id="9" name="Text 7"/>
          <p:cNvSpPr/>
          <p:nvPr/>
        </p:nvSpPr>
        <p:spPr>
          <a:xfrm>
            <a:off x="1400175" y="4465365"/>
            <a:ext cx="4439934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24215" y="4465365"/>
            <a:ext cx="2822593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34500" y="4465365"/>
            <a:ext cx="2822516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444710" y="4465365"/>
            <a:ext cx="4744810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произошло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57275" y="4879702"/>
            <a:ext cx="16173450" cy="1070521"/>
          </a:xfrm>
          <a:prstGeom prst="rect">
            <a:avLst/>
          </a:prstGeom>
          <a:solidFill>
            <a:srgbClr val="FBECEA"/>
          </a:solidFill>
          <a:ln/>
        </p:spPr>
      </p:sp>
      <p:sp>
        <p:nvSpPr>
          <p:cNvPr id="14" name="Shape 12"/>
          <p:cNvSpPr/>
          <p:nvPr/>
        </p:nvSpPr>
        <p:spPr>
          <a:xfrm>
            <a:off x="1057275" y="5940698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</p:sp>
      <p:sp>
        <p:nvSpPr>
          <p:cNvPr id="15" name="Text 13"/>
          <p:cNvSpPr/>
          <p:nvPr/>
        </p:nvSpPr>
        <p:spPr>
          <a:xfrm>
            <a:off x="1400175" y="527208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Абенова Г. К.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6224215" y="5279231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IIБ</a:t>
            </a:r>
            <a:endParaRPr lang="en-US" sz="1725" dirty="0"/>
          </a:p>
        </p:txBody>
      </p:sp>
      <p:sp>
        <p:nvSpPr>
          <p:cNvPr id="17" name="Shape 15"/>
          <p:cNvSpPr/>
          <p:nvPr/>
        </p:nvSpPr>
        <p:spPr>
          <a:xfrm>
            <a:off x="9334500" y="5245894"/>
            <a:ext cx="1239441" cy="323850"/>
          </a:xfrm>
          <a:prstGeom prst="roundRect">
            <a:avLst>
              <a:gd name="adj" fmla="val 50000"/>
            </a:avLst>
          </a:prstGeom>
          <a:solidFill>
            <a:srgbClr val="FBE4E2"/>
          </a:solidFill>
          <a:ln/>
        </p:spPr>
      </p:sp>
      <p:sp>
        <p:nvSpPr>
          <p:cNvPr id="18" name="Text 16"/>
          <p:cNvSpPr/>
          <p:nvPr/>
        </p:nvSpPr>
        <p:spPr>
          <a:xfrm>
            <a:off x="9486900" y="5303044"/>
            <a:ext cx="101084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4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Красный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44710" y="5127352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 +2,3 кг за 3 дня, ночной пульс 74 при коридоре 58–66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57275" y="7011219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</p:sp>
      <p:sp>
        <p:nvSpPr>
          <p:cNvPr id="21" name="Text 19"/>
          <p:cNvSpPr/>
          <p:nvPr/>
        </p:nvSpPr>
        <p:spPr>
          <a:xfrm>
            <a:off x="1400175" y="634260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Кимова А. С.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6224215" y="6349752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 II, 68 лет</a:t>
            </a:r>
            <a:endParaRPr lang="en-US" sz="1725" dirty="0"/>
          </a:p>
        </p:txBody>
      </p:sp>
      <p:sp>
        <p:nvSpPr>
          <p:cNvPr id="23" name="Shape 21"/>
          <p:cNvSpPr/>
          <p:nvPr/>
        </p:nvSpPr>
        <p:spPr>
          <a:xfrm>
            <a:off x="9334500" y="6316414"/>
            <a:ext cx="1196429" cy="323850"/>
          </a:xfrm>
          <a:prstGeom prst="roundRect">
            <a:avLst>
              <a:gd name="adj" fmla="val 50000"/>
            </a:avLst>
          </a:prstGeom>
          <a:solidFill>
            <a:srgbClr val="FBF0D9"/>
          </a:solidFill>
          <a:ln/>
        </p:spPr>
      </p:sp>
      <p:sp>
        <p:nvSpPr>
          <p:cNvPr id="24" name="Text 22"/>
          <p:cNvSpPr/>
          <p:nvPr/>
        </p:nvSpPr>
        <p:spPr>
          <a:xfrm>
            <a:off x="9486900" y="6373564"/>
            <a:ext cx="96782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877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Жёлтый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444710" y="6197873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эпизода нерегулярного ритма за неделю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400175" y="7268394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Остальные 140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6224215" y="7275537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· АГ · СД2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9334500" y="7242200"/>
            <a:ext cx="1253133" cy="323850"/>
          </a:xfrm>
          <a:prstGeom prst="roundRect">
            <a:avLst>
              <a:gd name="adj" fmla="val 50000"/>
            </a:avLst>
          </a:prstGeom>
          <a:solidFill>
            <a:srgbClr val="E8F5F0"/>
          </a:solidFill>
          <a:ln/>
        </p:spPr>
      </p:sp>
      <p:sp>
        <p:nvSpPr>
          <p:cNvPr id="29" name="Text 27"/>
          <p:cNvSpPr/>
          <p:nvPr/>
        </p:nvSpPr>
        <p:spPr>
          <a:xfrm>
            <a:off x="9486900" y="7299350"/>
            <a:ext cx="1024533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Зелёный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444710" y="7280300"/>
            <a:ext cx="474481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отклонений — не требуют действий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930747"/>
            <a:ext cx="31099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006947"/>
            <a:ext cx="286031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07 · Производство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573685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доступ к данным, не цена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0B3D2C"/>
          </a:solidFill>
          <a:ln/>
        </p:spPr>
      </p:sp>
      <p:sp>
        <p:nvSpPr>
          <p:cNvPr id="6" name="Text 4"/>
          <p:cNvSpPr/>
          <p:nvPr/>
        </p:nvSpPr>
        <p:spPr>
          <a:xfrm>
            <a:off x="1485900" y="4146203"/>
            <a:ext cx="47777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J-Style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85900" y="4622453"/>
            <a:ext cx="47777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Shenzhen Youhong Medical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85900" y="5146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2 000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485900" y="5527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13485 · </a:t>
            </a:r>
            <a:pPr algn="l" indent="0" marL="0">
              <a:buNone/>
            </a:pPr>
            <a:r>
              <a:rPr lang="en-US" sz="17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1485900" y="5908328"/>
            <a:ext cx="47777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доступ к данным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485900" y="6398865"/>
            <a:ext cx="4343400" cy="442913"/>
          </a:xfrm>
          <a:prstGeom prst="roundRect">
            <a:avLst>
              <a:gd name="adj" fmla="val 21505"/>
            </a:avLst>
          </a:prstGeom>
          <a:solidFill>
            <a:srgbClr val="0E7A50"/>
          </a:solidFill>
          <a:ln/>
        </p:spPr>
      </p:sp>
      <p:sp>
        <p:nvSpPr>
          <p:cNvPr id="12" name="Text 10"/>
          <p:cNvSpPr/>
          <p:nvPr/>
        </p:nvSpPr>
        <p:spPr>
          <a:xfrm>
            <a:off x="1573149" y="6513165"/>
            <a:ext cx="4168902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к медицинской регистрации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341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818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Eternity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81825" y="4631978"/>
            <a:ext cx="475678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Guangdong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81825" y="5155853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1725" dirty="0"/>
          </a:p>
        </p:txBody>
      </p:sp>
      <p:sp>
        <p:nvSpPr>
          <p:cNvPr id="17" name="Text 15"/>
          <p:cNvSpPr/>
          <p:nvPr/>
        </p:nvSpPr>
        <p:spPr>
          <a:xfrm>
            <a:off x="6981825" y="5536853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качества · не подтверждена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6981825" y="5913090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Самая низкая цена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0205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4682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Wonlex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2468225" y="4841528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12468225" y="5222528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Лучшая начинка</a:t>
            </a:r>
            <a:endParaRPr lang="en-US" sz="1725" dirty="0"/>
          </a:p>
        </p:txBody>
      </p:sp>
      <p:sp>
        <p:nvSpPr>
          <p:cNvPr id="23" name="Text 21"/>
          <p:cNvSpPr/>
          <p:nvPr/>
        </p:nvSpPr>
        <p:spPr>
          <a:xfrm>
            <a:off x="12468225" y="5598765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сертификатов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1047750" y="7641878"/>
            <a:ext cx="13906738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 условие контракта: устройство отдаёт данные напрямую в Damumed, без облака производителя. Образцы — 4–6 недель, серия — 8–12 недель после утверждения.</a:t>
            </a:r>
            <a:endParaRPr lang="en-US" sz="18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447032"/>
            <a:ext cx="2955727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2523232"/>
            <a:ext cx="270149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08 · Регистрация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109020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 риска 2а · 14–18 месяцев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0–2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и контракт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477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образцы, проверка доступа к данным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42862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2–5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862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партия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2862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серия, маркировка на двух языках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524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3–9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24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Испытания и досье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5247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техиспытания, биосовместимость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107632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9–16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632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Экспертиза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763250" y="5053013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 90 дней по классу 2а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14001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14–18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01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старт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001750" y="5053013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бессрочно</a:t>
            </a:r>
            <a:endParaRPr lang="en-US" sz="1575" dirty="0"/>
          </a:p>
        </p:txBody>
      </p:sp>
      <p:sp>
        <p:nvSpPr>
          <p:cNvPr id="20" name="Shape 18"/>
          <p:cNvSpPr/>
          <p:nvPr/>
        </p:nvSpPr>
        <p:spPr>
          <a:xfrm>
            <a:off x="1047750" y="5936903"/>
            <a:ext cx="16192500" cy="38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CF8E">
                  <a:alpha val="100000"/>
                </a:srgbClr>
              </a:gs>
              <a:gs pos="100000">
                <a:srgbClr val="1C6B4C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21" name="Shape 19"/>
          <p:cNvSpPr/>
          <p:nvPr/>
        </p:nvSpPr>
        <p:spPr>
          <a:xfrm>
            <a:off x="1047750" y="6508403"/>
            <a:ext cx="7943850" cy="1331565"/>
          </a:xfrm>
          <a:prstGeom prst="roundRect">
            <a:avLst>
              <a:gd name="adj" fmla="val 1287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38275" y="6841778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ЭКГ в первой версии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438275" y="7213253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ЭКГ поднимает класс до 2б и требует инспекции завода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296400" y="6508403"/>
            <a:ext cx="7943850" cy="1331565"/>
          </a:xfrm>
          <a:prstGeom prst="roundRect">
            <a:avLst>
              <a:gd name="adj" fmla="val 1287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86925" y="6841778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без ИИ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9686925" y="7213253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с ИИ автоматически получает высший класс риска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823293"/>
            <a:ext cx="2241575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</p:sp>
      <p:sp>
        <p:nvSpPr>
          <p:cNvPr id="3" name="Text 1"/>
          <p:cNvSpPr/>
          <p:nvPr/>
        </p:nvSpPr>
        <p:spPr>
          <a:xfrm>
            <a:off x="1219200" y="1899493"/>
            <a:ext cx="19748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09 · Риски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46623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риск закрыт решением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581549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38275" y="3876824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не даёт доступ к данным или документацию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296400" y="3883968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до предоплаты — условие контракта, а не пожелание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7750" y="4696867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38275" y="5144988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 затянется дольше 18 месяцев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296400" y="4992142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с европейским сертификатом открывает ускоренную экспертизу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47750" y="6117878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38275" y="6413153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Поликлиники не готовы платить за мониторинг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296400" y="6420296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2–3 разговорами до заказа; иначе разворот в розницу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47750" y="7233196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38275" y="7681317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Закупочная цена окажется выше плана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96400" y="7528471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цены держит до $11,5; выше — розница 19 990 ₸, всё равно ниже Xiaomi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583308"/>
            <a:ext cx="9603038" cy="2653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614"/>
              </a:lnSpc>
              <a:buNone/>
            </a:pPr>
            <a:r>
              <a:rPr lang="en-US" sz="6600" b="1" spc="-132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Позиция, которую в Казахстане не занял никто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носимое устройство со статусом медизделия на рынке РК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5911825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 лет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5911825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окупаемость первой партии от подписания контракта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077590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Барьер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1077590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интеграция с МИС — 18 месяцев для любого конкурента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1047750" y="7065392"/>
            <a:ext cx="792093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047750" y="7417817"/>
            <a:ext cx="8158558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 — медицинский надзор за цену, которая не требует раздумий, и повторная выручка, которая не заканчивается вместе с партией.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2026-08-31T15:13:43Z</dcterms:created>
  <dcterms:modified xsi:type="dcterms:W3CDTF">2026-08-31T15:13:43Z</dcterms:modified>
</cp:coreProperties>
</file>