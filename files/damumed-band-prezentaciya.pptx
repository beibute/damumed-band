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носимое медизделие в Казахстане, дешевле массового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не браслет, а медицинский надзор. Деньги — от мониторинга и подписок.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Приказ обязывает клиники применять носимые устройства с 1 сентября 2026 — а предложения на рынке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экрана: дешевле, дольше держит батарею, проще сертификация. Сменные ремешки под мужчин и женщин.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Аргумент, который конкурентам нечем перебить: медизделие дешевле обычного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цены. Не зарабатываем на железе — зарабатываем на надзоре.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вниз по цене оплачивается размером партии. Рекомендация — уровень I на 10 тыс или уровень II на 20 тыс.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Себестоимость 4 026 ₸. Вложения помимо партии — только регистрация и образцы.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15 месяцев — вложения без выручки. Выход в ноль — 21-й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группы: браслет даёт осмысленный сигнал и группа велика.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Браслет без экрана — продукт живёт в приложении. Личный коридор, три уровня раскрытия, честная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— не добавить врачу работы. Зелёные не отвлекают, красные всплывают с готовым контекстом.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Решает не цена, а доступ к данным и система качества. J-Style — единственный готовый к регистрации.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2а, национальная процедура, держатель — Damumed. Без ЭКГ и без ИИ, чтобы не поднять класс.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снимается конкретным решением до предоплаты или пилотом.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носимое медизделие в РК, встроенное в медкарту и рабочее место врача, дешевле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7250" y="1133475"/>
            <a:ext cx="104775" cy="104775"/>
          </a:xfrm>
          <a:prstGeom prst="ellipse">
            <a:avLst/>
          </a:prstGeom>
          <a:solidFill>
            <a:srgbClr val="3ECF8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76325" y="1047750"/>
            <a:ext cx="424184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Аналитический отчёт · август 2026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7250" y="2434754"/>
            <a:ext cx="8123224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33"/>
              </a:lnSpc>
              <a:buNone/>
            </a:pPr>
            <a:r>
              <a:rPr lang="en-US" sz="9600" b="1" spc="-288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857250" y="5129138"/>
            <a:ext cx="4549812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для контроля здоровья под собственным брендом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57250" y="7648575"/>
            <a:ext cx="468057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57250" y="7943850"/>
            <a:ext cx="4820987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дешевле массового фитнес-трекера — производство, регистрация и экономика первой партии</a:t>
            </a:r>
            <a:endParaRPr lang="en-US" sz="19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15468" r="15468" t="0" b="0"/>
          <a:stretch/>
        </p:blipFill>
        <p:spPr>
          <a:xfrm>
            <a:off x="9601126" y="0"/>
            <a:ext cx="86868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79427"/>
            <a:ext cx="25733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55627"/>
            <a:ext cx="230761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01 · Идея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41414"/>
            <a:ext cx="7946708" cy="1437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154"/>
              </a:lnSpc>
              <a:buNone/>
            </a:pPr>
            <a:r>
              <a:rPr lang="en-US" sz="5100" b="1" spc="-102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Продаём не браслет, а медицинский надзор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1047750" y="4464248"/>
            <a:ext cx="5839312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 идёт с минимальной наценкой. Деньги приходят от мониторинга и подписок, а не от железа.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667404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" y="6559748"/>
            <a:ext cx="78057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Контрактное производство без экрана — по образцу Whoop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7159823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14450" y="7045523"/>
            <a:ext cx="7672007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Регистрируем как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держатель — Damumed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798849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14450" y="7874198"/>
            <a:ext cx="818816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приложение Damumed и на панель врача в МИС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525000" y="1238250"/>
            <a:ext cx="7715250" cy="7810500"/>
          </a:xfrm>
          <a:prstGeom prst="roundRect">
            <a:avLst>
              <a:gd name="adj" fmla="val 2963"/>
            </a:avLst>
          </a:prstGeom>
          <a:ln/>
          <a:effectLst>
            <a:outerShdw sx="100000" sy="100000" kx="0" ky="0" algn="bl" rotWithShape="0" blurRad="666750" dist="285750" dir="5400000">
              <a:srgbClr val="0B3D2C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23082" r="23082" t="0" b="0"/>
          <a:stretch/>
        </p:blipFill>
        <p:spPr>
          <a:xfrm>
            <a:off x="9525000" y="1238250"/>
            <a:ext cx="7715250" cy="781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62994"/>
            <a:ext cx="1942802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39194"/>
            <a:ext cx="16761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63081"/>
            <a:ext cx="11632714" cy="1693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468"/>
              </a:lnSpc>
              <a:buNone/>
            </a:pPr>
            <a:r>
              <a:rPr lang="en-US" sz="6150" b="1" spc="-12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 вступает в силу — предложения на рынке нет</a:t>
            </a:r>
            <a:endParaRPr lang="en-US" sz="6150" dirty="0"/>
          </a:p>
        </p:txBody>
      </p:sp>
      <p:sp>
        <p:nvSpPr>
          <p:cNvPr id="5" name="Shape 3"/>
          <p:cNvSpPr/>
          <p:nvPr/>
        </p:nvSpPr>
        <p:spPr>
          <a:xfrm>
            <a:off x="104775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9542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Приказ № ҚР ДСМ-39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95425" y="6152331"/>
            <a:ext cx="725995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 сентября 2026 года медорганизации обязаны применять носимые устройства и передавать показатели в цифровые системы.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29640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4407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 млн пациентов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744075" y="6152331"/>
            <a:ext cx="725995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 управления заболеваниями покрывает наши диагнозы — гипертонию, диабет 2 типа, сердечную недостаточность. Носимых медизделий на рынке РК сегодня нет.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1538808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028700"/>
            <a:ext cx="127210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595438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Корпус без экрана, сменный ремешок</a:t>
            </a:r>
            <a:endParaRPr lang="en-US" sz="46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6400" r="6400" t="0" b="0"/>
          <a:stretch/>
        </p:blipFill>
        <p:spPr>
          <a:xfrm>
            <a:off x="1047750" y="2634555"/>
            <a:ext cx="7924800" cy="49530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6400" r="6400" t="0" b="0"/>
          <a:stretch/>
        </p:blipFill>
        <p:spPr>
          <a:xfrm>
            <a:off x="9315450" y="2634555"/>
            <a:ext cx="7924800" cy="4953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5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32397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Пульс · ВСР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32397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оптические датчики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15302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542925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SpO₂ · темп.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42925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кислород и кожа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5830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53452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IP68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953452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5–7 дней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336357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363980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25 г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1363980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алюминий, 40 мм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13645"/>
            <a:ext cx="2169021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89845"/>
            <a:ext cx="190232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02 · Цена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656582"/>
            <a:ext cx="8118932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Медизделие дешевле фитнес-браслета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522887"/>
            <a:ext cx="37719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05350" y="4430018"/>
            <a:ext cx="2564829" cy="495300"/>
          </a:xfrm>
          <a:prstGeom prst="roundRect">
            <a:avLst>
              <a:gd name="adj" fmla="val 19231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0" y="4503837"/>
            <a:ext cx="209550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52039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Band 10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05350" y="5115818"/>
            <a:ext cx="286657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77750" y="51920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16 890 ₸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50" y="58897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 Smart Band 10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705350" y="5801618"/>
            <a:ext cx="3771900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477750" y="58778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21 989 ₸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47750" y="65755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Fit3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05350" y="6487418"/>
            <a:ext cx="3847281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2477750" y="65636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22 299 ₸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7750" y="72613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 Band 9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705350" y="7173218"/>
            <a:ext cx="595959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477750" y="72494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34 880 ₸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8011418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Розничные цены, Kaspi, проверено 31 августа 2026 · на треть ниже Xiaomi Band 10</a:t>
            </a:r>
            <a:endParaRPr lang="en-US" sz="17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22364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цены, ни одной случайной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7637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в рознице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637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14 990 ₸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47637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рассрочку на год — 1 250 ₸/мес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929640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2502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Подписка «медицинский надзор»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2502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/мес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любой психологической планки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775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7637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поликлинике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637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6 900 ₸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47637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оснащение участка без сложных процедур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929640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72502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Мониторинг для поликлиники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2502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/пациент/мес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72502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менее трети подушевого норматива</a:t>
            </a:r>
            <a:endParaRPr lang="en-US" sz="17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88803"/>
            <a:ext cx="3774504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65003"/>
            <a:ext cx="35448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03 · Три ценовых уровня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31740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Цену вниз оплачивает размер партии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3768998"/>
            <a:ext cx="16192500" cy="34004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7275" y="3778523"/>
            <a:ext cx="16173450" cy="719138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62075" y="4007123"/>
            <a:ext cx="347642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4789" y="4007123"/>
            <a:ext cx="27621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Розница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66435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8007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10 тыс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69579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20 тыс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7275" y="4497660"/>
            <a:ext cx="16173450" cy="890588"/>
          </a:xfrm>
          <a:prstGeom prst="rect">
            <a:avLst/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57275" y="537872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62075" y="4783410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Базовый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14789" y="4783410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266435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6 900 ₸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318007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+20,0 млн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4369579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+93,9 млн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57275" y="62693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362075" y="5673998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Массовый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214789" y="5673998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11 990 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8266435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5 500 ₸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318007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−3,4 млн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69579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+47,2 млн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62075" y="6564585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Тендерный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5214789" y="6564585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9 990 ₸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266435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4 500 ₸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318007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−20,8 млн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369579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+12,5 млн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047750" y="7474223"/>
            <a:ext cx="123615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</a:t>
            </a:r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I на партии 10 000 — осторожный вход, либо уровень II на партии 20 000 — ставка на охват.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49835"/>
            <a:ext cx="2783830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326035"/>
            <a:ext cx="25244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04 · Экономика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92772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 цена — потому что софт свой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001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на складе</a:t>
            </a:r>
            <a:endParaRPr lang="en-US" sz="1725" dirty="0"/>
          </a:p>
        </p:txBody>
      </p:sp>
      <p:sp>
        <p:nvSpPr>
          <p:cNvPr id="7" name="Text 5"/>
          <p:cNvSpPr/>
          <p:nvPr/>
        </p:nvSpPr>
        <p:spPr>
          <a:xfrm>
            <a:off x="14001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4 026 ₸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51625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149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5149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</a:t>
            </a:r>
            <a:pPr algn="l" indent="0" marL="0">
              <a:buNone/>
            </a:pPr>
            <a:r>
              <a:rPr lang="en-US" sz="24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5149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40 + регистрация 18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2773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297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в рознице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96297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8 900 ₸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96297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вычетом комиссии Kaspi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3921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35050" y="4408140"/>
            <a:ext cx="3478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сервиса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3735050" y="4803428"/>
            <a:ext cx="347853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₸/мес</a:t>
            </a:r>
            <a:endParaRPr lang="en-US" sz="4350" dirty="0"/>
          </a:p>
        </p:txBody>
      </p:sp>
      <p:sp>
        <p:nvSpPr>
          <p:cNvPr id="19" name="Text 17"/>
          <p:cNvSpPr/>
          <p:nvPr/>
        </p:nvSpPr>
        <p:spPr>
          <a:xfrm>
            <a:off x="13735050" y="5517803"/>
            <a:ext cx="347853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заканчивается с партией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47750" y="6546503"/>
            <a:ext cx="16192500" cy="108585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38275" y="6941790"/>
            <a:ext cx="31290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4 026 ₸: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4435301" y="6879878"/>
            <a:ext cx="10333137" cy="419100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06751" y="6879878"/>
            <a:ext cx="104716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$7,5 — 3 488 ₸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768438" y="6879878"/>
            <a:ext cx="857027" cy="41910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5625465" y="6879878"/>
            <a:ext cx="612130" cy="419100"/>
          </a:xfrm>
          <a:prstGeom prst="rect">
            <a:avLst/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6237595" y="6879878"/>
            <a:ext cx="612130" cy="419100"/>
          </a:xfrm>
          <a:prstGeom prst="rect">
            <a:avLst/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7750" y="7784753"/>
            <a:ext cx="17811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· упаковка 279 ₸ · логистика 186 ₸ · пошлина 73 ₸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65831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95425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мес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95425" y="4207148"/>
            <a:ext cx="4427867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 без выручки: производство, регистрация, разработка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46800" y="2811735"/>
            <a:ext cx="5194325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94475" y="3240360"/>
            <a:ext cx="4728872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мес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994475" y="4207148"/>
            <a:ext cx="442794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в ноль от подписания контракта с заводом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045925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93600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млн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493600" y="4207148"/>
            <a:ext cx="4427867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к 24 мес · при партии 20 тыс — +94 млн 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8247608"/>
            <a:ext cx="161925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47750" y="7947571"/>
            <a:ext cx="1026096" cy="300038"/>
          </a:xfrm>
          <a:custGeom>
            <a:avLst/>
            <a:gdLst/>
            <a:ahLst/>
            <a:cxnLst/>
            <a:rect l="l" t="t" r="r" b="b"/>
            <a:pathLst>
              <a:path w="1026096" h="300038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300038"/>
                </a:lnTo>
                <a:lnTo>
                  <a:pt x="0" y="300038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130996" y="7687568"/>
            <a:ext cx="1026170" cy="560040"/>
          </a:xfrm>
          <a:custGeom>
            <a:avLst/>
            <a:gdLst/>
            <a:ahLst/>
            <a:cxnLst/>
            <a:rect l="l" t="t" r="r" b="b"/>
            <a:pathLst>
              <a:path w="1026170" h="56004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560040"/>
                </a:lnTo>
                <a:lnTo>
                  <a:pt x="0" y="56004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14315" y="7407548"/>
            <a:ext cx="1026096" cy="840060"/>
          </a:xfrm>
          <a:custGeom>
            <a:avLst/>
            <a:gdLst/>
            <a:ahLst/>
            <a:cxnLst/>
            <a:rect l="l" t="t" r="r" b="b"/>
            <a:pathLst>
              <a:path w="1026096" h="840060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840060"/>
                </a:lnTo>
                <a:lnTo>
                  <a:pt x="0" y="84006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297561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80881" y="6687443"/>
            <a:ext cx="1026170" cy="1560165"/>
          </a:xfrm>
          <a:custGeom>
            <a:avLst/>
            <a:gdLst/>
            <a:ahLst/>
            <a:cxnLst/>
            <a:rect l="l" t="t" r="r" b="b"/>
            <a:pathLst>
              <a:path w="1026170" h="156016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560165"/>
                </a:lnTo>
                <a:lnTo>
                  <a:pt x="0" y="156016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64201" y="6847433"/>
            <a:ext cx="1026170" cy="1400175"/>
          </a:xfrm>
          <a:custGeom>
            <a:avLst/>
            <a:gdLst/>
            <a:ahLst/>
            <a:cxnLst/>
            <a:rect l="l" t="t" r="r" b="b"/>
            <a:pathLst>
              <a:path w="1026170" h="14001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00175"/>
                </a:lnTo>
                <a:lnTo>
                  <a:pt x="0" y="14001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547521" y="7247483"/>
            <a:ext cx="1026170" cy="1000125"/>
          </a:xfrm>
          <a:custGeom>
            <a:avLst/>
            <a:gdLst/>
            <a:ahLst/>
            <a:cxnLst/>
            <a:rect l="l" t="t" r="r" b="b"/>
            <a:pathLst>
              <a:path w="1026170" h="10001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000125"/>
                </a:lnTo>
                <a:lnTo>
                  <a:pt x="0" y="10001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30841" y="7647533"/>
            <a:ext cx="1026170" cy="600075"/>
          </a:xfrm>
          <a:custGeom>
            <a:avLst/>
            <a:gdLst/>
            <a:ahLst/>
            <a:cxnLst/>
            <a:rect l="l" t="t" r="r" b="b"/>
            <a:pathLst>
              <a:path w="1026170" h="6000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600075"/>
                </a:lnTo>
                <a:lnTo>
                  <a:pt x="0" y="6000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14161" y="8047583"/>
            <a:ext cx="1026170" cy="200025"/>
          </a:xfrm>
          <a:custGeom>
            <a:avLst/>
            <a:gdLst/>
            <a:ahLst/>
            <a:cxnLst/>
            <a:rect l="l" t="t" r="r" b="b"/>
            <a:pathLst>
              <a:path w="1026170" h="2000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00025"/>
                </a:lnTo>
                <a:lnTo>
                  <a:pt x="0" y="2000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E0A3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0797480" y="8007623"/>
            <a:ext cx="1026170" cy="239985"/>
          </a:xfrm>
          <a:custGeom>
            <a:avLst/>
            <a:gdLst/>
            <a:ahLst/>
            <a:cxnLst/>
            <a:rect l="l" t="t" r="r" b="b"/>
            <a:pathLst>
              <a:path w="1026170" h="23998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39985"/>
                </a:lnTo>
                <a:lnTo>
                  <a:pt x="0" y="23998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880800" y="7767563"/>
            <a:ext cx="1026170" cy="480045"/>
          </a:xfrm>
          <a:custGeom>
            <a:avLst/>
            <a:gdLst/>
            <a:ahLst/>
            <a:cxnLst/>
            <a:rect l="l" t="t" r="r" b="b"/>
            <a:pathLst>
              <a:path w="1026170" h="48004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480045"/>
                </a:lnTo>
                <a:lnTo>
                  <a:pt x="0" y="48004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2964120" y="7527578"/>
            <a:ext cx="1026170" cy="720030"/>
          </a:xfrm>
          <a:custGeom>
            <a:avLst/>
            <a:gdLst/>
            <a:ahLst/>
            <a:cxnLst/>
            <a:rect l="l" t="t" r="r" b="b"/>
            <a:pathLst>
              <a:path w="1026170" h="72003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720030"/>
                </a:lnTo>
                <a:lnTo>
                  <a:pt x="0" y="72003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4047440" y="7287518"/>
            <a:ext cx="1026170" cy="960090"/>
          </a:xfrm>
          <a:custGeom>
            <a:avLst/>
            <a:gdLst/>
            <a:ahLst/>
            <a:cxnLst/>
            <a:rect l="l" t="t" r="r" b="b"/>
            <a:pathLst>
              <a:path w="1026170" h="96009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960090"/>
                </a:lnTo>
                <a:lnTo>
                  <a:pt x="0" y="96009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5130760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214080" y="6767438"/>
            <a:ext cx="1026170" cy="1480170"/>
          </a:xfrm>
          <a:custGeom>
            <a:avLst/>
            <a:gdLst/>
            <a:ahLst/>
            <a:cxnLst/>
            <a:rect l="l" t="t" r="r" b="b"/>
            <a:pathLst>
              <a:path w="1026170" h="148017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80170"/>
                </a:lnTo>
                <a:lnTo>
                  <a:pt x="0" y="148017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47750" y="8400008"/>
            <a:ext cx="6488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883947" y="8400008"/>
            <a:ext cx="26463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старт продаж · мес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553259" y="8400008"/>
            <a:ext cx="7631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09354"/>
            <a:ext cx="3135139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85554"/>
            <a:ext cx="28862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05 · Целевые группы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5229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Пациенты на диспансерном учёте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086671"/>
            <a:ext cx="44005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Гипертония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5295900" y="3967609"/>
            <a:ext cx="7600950" cy="533400"/>
          </a:xfrm>
          <a:prstGeom prst="roundRect">
            <a:avLst>
              <a:gd name="adj" fmla="val 17857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0" y="4081909"/>
            <a:ext cx="240982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1 776 876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48224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Диабет 2 типа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5295900" y="4710559"/>
            <a:ext cx="2128242" cy="533400"/>
          </a:xfrm>
          <a:prstGeom prst="roundRect">
            <a:avLst>
              <a:gd name="adj" fmla="val 17857"/>
            </a:avLst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144500" y="48177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492 335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5654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Астма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5295900" y="5453509"/>
            <a:ext cx="532061" cy="533400"/>
          </a:xfrm>
          <a:prstGeom prst="roundRect">
            <a:avLst>
              <a:gd name="adj" fmla="val 17902"/>
            </a:avLst>
          </a:prstGeom>
          <a:solidFill>
            <a:srgbClr val="7BC7A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144500" y="55606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110 000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7750" y="63083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Лёгочная болезнь (ХОБЛ)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5295900" y="6196459"/>
            <a:ext cx="380033" cy="533400"/>
          </a:xfrm>
          <a:prstGeom prst="roundRect">
            <a:avLst>
              <a:gd name="adj" fmla="val 25064"/>
            </a:avLst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144500" y="63036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70 000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7750" y="70513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Сердечная недостаточность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5295900" y="6939409"/>
            <a:ext cx="228005" cy="533400"/>
          </a:xfrm>
          <a:prstGeom prst="roundRect">
            <a:avLst>
              <a:gd name="adj" fmla="val 41775"/>
            </a:avLst>
          </a:prstGeom>
          <a:solidFill>
            <a:srgbClr val="C7E5D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3144500" y="70465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37 485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781570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Минздрава и НЦОЗ · численность целевых групп, человек</a:t>
            </a:r>
            <a:endParaRPr lang="en-US" sz="17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607246"/>
            <a:ext cx="2960191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683446"/>
            <a:ext cx="27060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06 · Мобильное приложение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269233"/>
            <a:ext cx="8364891" cy="1330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299"/>
              </a:lnSpc>
              <a:buNone/>
            </a:pPr>
            <a:r>
              <a:rPr lang="en-US" sz="4800" b="1" spc="-96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целиком живёт в приложении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7750" y="4980608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Личный коридор, а не норма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313983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«выше вашего обычного», а не «пульс 68»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5843513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уровня раскрытия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6176888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→ тренд → сырые данные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6706419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калибровка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7039794"/>
            <a:ext cx="836489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пишем, сколько ночей осталось; без ИИ-советника и оценки давления по браслету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31003" y="1524000"/>
            <a:ext cx="7309247" cy="7239000"/>
          </a:xfrm>
          <a:prstGeom prst="roundRect">
            <a:avLst>
              <a:gd name="adj" fmla="val 3158"/>
            </a:avLst>
          </a:prstGeom>
          <a:ln/>
          <a:effectLst>
            <a:outerShdw sx="100000" sy="100000" kx="0" ky="0" algn="bl" rotWithShape="0" blurRad="666750" dist="28575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6261" b="16261"/>
          <a:stretch/>
        </p:blipFill>
        <p:spPr>
          <a:xfrm>
            <a:off x="9931003" y="1524000"/>
            <a:ext cx="7309247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485132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врача — не добавить работы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522390"/>
            <a:ext cx="16192500" cy="4279404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  <a:effectLst>
            <a:outerShdw sx="100000" sy="100000" kx="0" ky="0" algn="bl" rotWithShape="0" blurRad="476250" dist="190500" dir="5400000">
              <a:srgbClr val="0B3D2C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7275" y="3531915"/>
            <a:ext cx="16173450" cy="74295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0175" y="3760515"/>
            <a:ext cx="15027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6843" y="3777183"/>
            <a:ext cx="716186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Дистанционное наблюдение · 143 пациента · тревог за сутки: 3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57275" y="4274865"/>
            <a:ext cx="16173450" cy="604838"/>
          </a:xfrm>
          <a:prstGeom prst="rect">
            <a:avLst/>
          </a:prstGeom>
          <a:solidFill>
            <a:srgbClr val="F4F7F5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57275" y="4870177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00175" y="4465365"/>
            <a:ext cx="4439934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24215" y="4465365"/>
            <a:ext cx="2822593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34500" y="4465365"/>
            <a:ext cx="2822516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444710" y="4465365"/>
            <a:ext cx="4744810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произошло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7275" y="4879702"/>
            <a:ext cx="16173450" cy="1070521"/>
          </a:xfrm>
          <a:prstGeom prst="rect">
            <a:avLst/>
          </a:prstGeom>
          <a:solidFill>
            <a:srgbClr val="FBECE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57275" y="5940698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00175" y="527208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Абенова Г. К.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6224215" y="5279231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IIБ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334500" y="5245894"/>
            <a:ext cx="1239441" cy="323850"/>
          </a:xfrm>
          <a:prstGeom prst="roundRect">
            <a:avLst>
              <a:gd name="adj" fmla="val 50000"/>
            </a:avLst>
          </a:prstGeom>
          <a:solidFill>
            <a:srgbClr val="FBE4E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86900" y="5303044"/>
            <a:ext cx="10108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4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Красный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44710" y="5127352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 +2,3 кг за 3 дня, ночной пульс 74 при коридоре 58–66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57275" y="7011219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00175" y="634260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Кимова А. С.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6224215" y="6349752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 II, 68 лет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34500" y="6316414"/>
            <a:ext cx="1196429" cy="323850"/>
          </a:xfrm>
          <a:prstGeom prst="roundRect">
            <a:avLst>
              <a:gd name="adj" fmla="val 50000"/>
            </a:avLst>
          </a:prstGeom>
          <a:solidFill>
            <a:srgbClr val="FBF0D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86900" y="6373564"/>
            <a:ext cx="9678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77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Жёлтый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444710" y="6197873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эпизода нерегулярного ритма за неделю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00175" y="7268394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Остальные 140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224215" y="7275537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· АГ · СД2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9334500" y="7242200"/>
            <a:ext cx="1253133" cy="32385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486900" y="7299350"/>
            <a:ext cx="102453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Зелёный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444710" y="7280300"/>
            <a:ext cx="474481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отклонений — не требуют действий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30747"/>
            <a:ext cx="31099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06947"/>
            <a:ext cx="28603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07 · Производство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573685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доступ к данным, не цена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85900" y="4146203"/>
            <a:ext cx="47777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85900" y="4622453"/>
            <a:ext cx="47777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Shenzhen Youhong Medical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5900" y="5146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2 000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85900" y="5527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13485 · </a:t>
            </a:r>
            <a:pPr algn="l" indent="0" marL="0">
              <a:buNone/>
            </a:pPr>
            <a:r>
              <a:rPr lang="en-US" sz="17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85900" y="5908328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доступ к данным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485900" y="6398865"/>
            <a:ext cx="4343400" cy="442913"/>
          </a:xfrm>
          <a:prstGeom prst="roundRect">
            <a:avLst>
              <a:gd name="adj" fmla="val 21505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73149" y="6513165"/>
            <a:ext cx="416890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медицинской регистрации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41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818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Eternity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81825" y="4631978"/>
            <a:ext cx="47567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Guangdong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81825" y="5155853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981825" y="5536853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качества · не подтверждена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981825" y="591309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низкая цена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05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24682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Wonlex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2468225" y="4841528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468225" y="5222528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начинка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468225" y="559876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сертификатов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047750" y="7641878"/>
            <a:ext cx="1390673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 условие контракта: устройство отдаёт данные напрямую в Damumed, без облака производителя. Образцы — 4–6 недель, серия — 8–12 недель после утверждения.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447032"/>
            <a:ext cx="2955727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523232"/>
            <a:ext cx="270149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08 · Регистрация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109020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 риска 2а · 14–18 месяцев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0–2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и контракт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47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образцы, проверка доступа к данным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286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2–5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86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партия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862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серия, маркировка на двух языках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524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3–9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и досье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24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техиспытания, биосовместимость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763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9–16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63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Экспертиза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7632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 90 дней по классу 2а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4001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14–18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01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старт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0017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бессрочно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047750" y="5936903"/>
            <a:ext cx="16192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CF8E">
                  <a:alpha val="100000"/>
                </a:srgbClr>
              </a:gs>
              <a:gs pos="100000">
                <a:srgbClr val="1C6B4C">
                  <a:alpha val="10000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04775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43827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ЭКГ в первой версии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3827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ЭКГ поднимает класс до 2б и требует инспекции завода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29640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68692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без ИИ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68692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с ИИ автоматически получает высший класс риска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823293"/>
            <a:ext cx="2241575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899493"/>
            <a:ext cx="19748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09 · Риски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46623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риск закрыт решением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581549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8275" y="3876824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не даёт доступ к данным или документацию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296400" y="3883968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до предоплаты — условие контракта, а не пожелание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696867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8275" y="5144988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затянется дольше 18 месяцев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96400" y="4992142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с европейским сертификатом открывает ускоренную экспертизу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6117878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38275" y="6413153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Поликлиники не готовы платить за мониторинг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296400" y="6420296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2–3 разговорами до заказа; иначе разворот в розницу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7233196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38275" y="7681317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Закупочная цена окажется выше плана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96400" y="7528471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цены держит до $11,5; выше — розница 19 990 ₸, всё равно ниже Xiaomi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583308"/>
            <a:ext cx="9603038" cy="265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614"/>
              </a:lnSpc>
              <a:buNone/>
            </a:pPr>
            <a:r>
              <a:rPr lang="en-US" sz="6600" b="1" spc="-132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Позиция, которую в Казахстане не занял никто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носимое устройство со статусом медизделия на рынке РК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5911825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лет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911825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окупаемость первой партии от подписания контракта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77590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Барьер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077590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интеграция с МИС — 18 месяцев для любого конкурента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047750" y="7065392"/>
            <a:ext cx="792093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47750" y="7417817"/>
            <a:ext cx="8158558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 — медицинский надзор за цену, которая не требует раздумий, и повторная выручка, которая не заканчивается вместе с партией.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2026-08-31T15:13:43Z</dcterms:created>
  <dcterms:modified xsi:type="dcterms:W3CDTF">2026-08-31T15:13:43Z</dcterms:modified>
</cp:coreProperties>
</file>