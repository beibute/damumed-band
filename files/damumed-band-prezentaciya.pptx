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Первое носимое медизделие в Казахстане, дешевле массового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Врач видит пациента 15 минут в месяц, а болезнь работает круглосуточно. Датчик закрывает разрыв.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Приказ обязывает клиники применять носимые устройства с 1 сентября 2026 — а предложения на рынке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Без экрана: дешевле, дольше держит батарею, проще сертификация. Сменные ремешки под мужчин и женщин.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Аргумент, который конкурентам нечем перебить: медизделие дешевле обычного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Две линии дохода. Человек платит за себя; поликлинике наблюдение бесплатно — входит в аренду МИС, платит только за браслеты.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шаг вниз по цене оплачивается размером партии. Рекомендация — уровень I на 10 тыс или уровень II на 20 тыс.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Себестоимость 4 026 ₸. Вложения помимо партии — только регистрация и образцы.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15 месяцев — вложения без выручки. Выход в ноль — 21-й месяц.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группы: браслет даёт осмысленный сигнал и группа велика.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Браслет без экрана — продукт живёт в приложении. Личный коридор, три уровня раскрытия, честная калибровка.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— не добавить врачу работы. Зелёные не отвлекают, красные всплывают с готовым контекстом.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Решает не цена, а доступ к данным и система качества. J-Style — единственный готовый к регистрации.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Класс 2а, держатель — Damumed. Без ЭКГ в первой версии; ИИ — поэтапно, чтобы не поднять класс.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риск снимается конкретным решением до предоплаты или пилотом.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Единственное носимое медизделие в РК, встроенное в медкарту и рабочее место врача, дешевле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7250" y="1047750"/>
            <a:ext cx="8123224" cy="2427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1720"/>
              </a:lnSpc>
              <a:buNone/>
            </a:pPr>
            <a:r>
              <a:rPr lang="en-US" sz="9600" b="1" spc="-288" kern="0" dirty="0">
                <a:solidFill>
                  <a:srgbClr val="F2F7F4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Damumed Band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857250" y="3742134"/>
            <a:ext cx="4549812" cy="1446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244"/>
              </a:lnSpc>
              <a:buNone/>
            </a:pPr>
            <a:r>
              <a:rPr lang="en-US" sz="2550" dirty="0">
                <a:solidFill>
                  <a:srgbClr val="BEDCC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Браслет для контроля здоровья под собственным брендом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857250" y="7648575"/>
            <a:ext cx="468057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57250" y="7943850"/>
            <a:ext cx="4820987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806"/>
              </a:lnSpc>
              <a:buNone/>
            </a:pPr>
            <a:r>
              <a:rPr lang="en-US" sz="1950" dirty="0">
                <a:solidFill>
                  <a:srgbClr val="8FBBA3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Первое в Казахстане носимое медицинское изделие, встроенное в медкарту и рабочее место врача — по цене ниже фитнес-браслета</a:t>
            </a:r>
            <a:endParaRPr lang="en-US" sz="19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15468" r="15468" t="0" b="0"/>
          <a:stretch/>
        </p:blipFill>
        <p:spPr>
          <a:xfrm>
            <a:off x="9601126" y="0"/>
            <a:ext cx="86868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1774924"/>
            <a:ext cx="2240979" cy="428625"/>
          </a:xfrm>
          <a:prstGeom prst="roundRect">
            <a:avLst>
              <a:gd name="adj" fmla="val 22222"/>
            </a:avLst>
          </a:prstGeom>
          <a:solidFill>
            <a:srgbClr val="E8F5F0"/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1851124"/>
            <a:ext cx="197427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Раздел 01 · Идея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451199"/>
            <a:ext cx="7946708" cy="21365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110"/>
              </a:lnSpc>
              <a:buNone/>
            </a:pPr>
            <a:r>
              <a:rPr lang="en-US" sz="5100" b="1" spc="-102" kern="0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Врач рядом каждый день, а не 15 минут в месяц</a:t>
            </a:r>
            <a:endParaRPr lang="en-US" sz="5100" dirty="0"/>
          </a:p>
        </p:txBody>
      </p:sp>
      <p:sp>
        <p:nvSpPr>
          <p:cNvPr id="5" name="Text 3"/>
          <p:cNvSpPr/>
          <p:nvPr/>
        </p:nvSpPr>
        <p:spPr>
          <a:xfrm>
            <a:off x="1047750" y="4873526"/>
            <a:ext cx="5839312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50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Датчик на руке → данные в медкарте → врач замечает ухудшение за несколько дней до обострения.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047750" y="6654701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</p:sp>
      <p:sp>
        <p:nvSpPr>
          <p:cNvPr id="7" name="Text 5"/>
          <p:cNvSpPr/>
          <p:nvPr/>
        </p:nvSpPr>
        <p:spPr>
          <a:xfrm>
            <a:off x="1314450" y="6540401"/>
            <a:ext cx="7672007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У Damumed уже есть приложение, медкарта и рабочее место врача — не хватает датчика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1047750" y="7473851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</p:sp>
      <p:sp>
        <p:nvSpPr>
          <p:cNvPr id="9" name="Text 7"/>
          <p:cNvSpPr/>
          <p:nvPr/>
        </p:nvSpPr>
        <p:spPr>
          <a:xfrm>
            <a:off x="1314450" y="7359551"/>
            <a:ext cx="7672007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Регистрируем как </a:t>
            </a:r>
            <a:pPr algn="l" indent="0" marL="0">
              <a:lnSpc>
                <a:spcPct val="116667"/>
              </a:lnSpc>
              <a:buNone/>
            </a:pPr>
            <a:r>
              <a:rPr lang="en-US" sz="1875" b="1" dirty="0">
                <a:solidFill>
                  <a:srgbClr val="33403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медицинское изделие </a:t>
            </a:r>
            <a:pPr algn="l" indent="0" marL="0">
              <a:lnSpc>
                <a:spcPct val="116667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, держатель — Damumed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1047750" y="8293001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</p:sp>
      <p:sp>
        <p:nvSpPr>
          <p:cNvPr id="11" name="Text 9"/>
          <p:cNvSpPr/>
          <p:nvPr/>
        </p:nvSpPr>
        <p:spPr>
          <a:xfrm>
            <a:off x="1314450" y="8178701"/>
            <a:ext cx="818816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Данные идут в приложение Damumed и на панель врача в МИС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525000" y="1238250"/>
            <a:ext cx="7715250" cy="7810500"/>
          </a:xfrm>
          <a:prstGeom prst="roundRect">
            <a:avLst>
              <a:gd name="adj" fmla="val 2963"/>
            </a:avLst>
          </a:prstGeom>
          <a:ln/>
          <a:effectLst>
            <a:outerShdw sx="100000" sy="100000" kx="0" ky="0" algn="bl" rotWithShape="0" blurRad="666750" dist="285750" dir="5400000">
              <a:srgbClr val="0B3D2C">
                <a:alpha val="18000"/>
              </a:srgbClr>
            </a:outerShdw>
          </a:effectLst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rcRect l="23082" r="23082" t="0" b="0"/>
          <a:stretch/>
        </p:blipFill>
        <p:spPr>
          <a:xfrm>
            <a:off x="9525000" y="1238250"/>
            <a:ext cx="7715250" cy="7810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148706"/>
            <a:ext cx="2058144" cy="428625"/>
          </a:xfrm>
          <a:prstGeom prst="roundRect">
            <a:avLst>
              <a:gd name="adj" fmla="val 22222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2224906"/>
            <a:ext cx="179144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Почему сейчас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63081"/>
            <a:ext cx="13804875" cy="1693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8244"/>
              </a:lnSpc>
              <a:buNone/>
            </a:pPr>
            <a:r>
              <a:rPr lang="en-US" sz="6150" b="1" spc="-123" kern="0" dirty="0">
                <a:solidFill>
                  <a:srgbClr val="F2F7F4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Норма вступает в силу — предложения на рынке нет</a:t>
            </a:r>
            <a:endParaRPr lang="en-US" sz="6150" dirty="0"/>
          </a:p>
        </p:txBody>
      </p:sp>
      <p:sp>
        <p:nvSpPr>
          <p:cNvPr id="5" name="Shape 3"/>
          <p:cNvSpPr/>
          <p:nvPr/>
        </p:nvSpPr>
        <p:spPr>
          <a:xfrm>
            <a:off x="1047750" y="5128394"/>
            <a:ext cx="7943850" cy="3009900"/>
          </a:xfrm>
          <a:prstGeom prst="roundRect">
            <a:avLst>
              <a:gd name="adj" fmla="val 6329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95425" y="5557019"/>
            <a:ext cx="775335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3ECF8E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Приказ № ҚР ДСМ-39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1495425" y="6166619"/>
            <a:ext cx="7259955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615"/>
              </a:lnSpc>
              <a:buNone/>
            </a:pPr>
            <a:r>
              <a:rPr lang="en-US" sz="2025" dirty="0">
                <a:solidFill>
                  <a:srgbClr val="CFE7D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 1 сентября 2026 года медорганизации обязаны применять носимые устройства и передавать показатели в цифровые системы.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9296400" y="5128394"/>
            <a:ext cx="7943850" cy="3009900"/>
          </a:xfrm>
          <a:prstGeom prst="roundRect">
            <a:avLst>
              <a:gd name="adj" fmla="val 6329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44075" y="5557019"/>
            <a:ext cx="775335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3ECF8E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&gt; 1 млн пациентов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9744075" y="6166619"/>
            <a:ext cx="7259955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615"/>
              </a:lnSpc>
              <a:buNone/>
            </a:pPr>
            <a:r>
              <a:rPr lang="en-US" sz="2025" dirty="0">
                <a:solidFill>
                  <a:srgbClr val="CFE7D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Программа управления заболеваниями покрывает наши диагнозы — гипертонию, диабет 2 типа, сердечную недостаточность. Носимых медизделий на рынке РК сегодня нет.</a:t>
            </a:r>
            <a:endParaRPr lang="en-US" sz="20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52500"/>
            <a:ext cx="1665982" cy="428625"/>
          </a:xfrm>
          <a:prstGeom prst="roundRect">
            <a:avLst>
              <a:gd name="adj" fmla="val 22222"/>
            </a:avLst>
          </a:prstGeom>
          <a:solidFill>
            <a:srgbClr val="E8F5F0"/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1028700"/>
            <a:ext cx="139928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Устройство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1609725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383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Корпус без экрана, сменный ремешок</a:t>
            </a:r>
            <a:endParaRPr lang="en-US" sz="46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6400" r="6400" t="0" b="0"/>
          <a:stretch/>
        </p:blipFill>
        <p:spPr>
          <a:xfrm>
            <a:off x="1047750" y="2648843"/>
            <a:ext cx="7924800" cy="495300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rcRect l="6400" r="6400" t="0" b="0"/>
          <a:stretch/>
        </p:blipFill>
        <p:spPr>
          <a:xfrm>
            <a:off x="9315450" y="2648843"/>
            <a:ext cx="7924800" cy="4953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7750" y="7944743"/>
            <a:ext cx="3876675" cy="1227758"/>
          </a:xfrm>
          <a:prstGeom prst="roundRect">
            <a:avLst>
              <a:gd name="adj" fmla="val 12413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323975" y="8201918"/>
            <a:ext cx="365664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Пульс · ВСР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1323975" y="8601968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724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оптические датчики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153025" y="7944743"/>
            <a:ext cx="3876675" cy="1227758"/>
          </a:xfrm>
          <a:prstGeom prst="roundRect">
            <a:avLst>
              <a:gd name="adj" fmla="val 12413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429250" y="8201918"/>
            <a:ext cx="3656648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SpO₂ · темп.</a:t>
            </a:r>
            <a:endParaRPr lang="en-US" sz="2250" dirty="0"/>
          </a:p>
        </p:txBody>
      </p:sp>
      <p:sp>
        <p:nvSpPr>
          <p:cNvPr id="12" name="Text 8"/>
          <p:cNvSpPr/>
          <p:nvPr/>
        </p:nvSpPr>
        <p:spPr>
          <a:xfrm>
            <a:off x="5429250" y="8606730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724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кислород и кожа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9258300" y="7944743"/>
            <a:ext cx="3876675" cy="1227758"/>
          </a:xfrm>
          <a:prstGeom prst="roundRect">
            <a:avLst>
              <a:gd name="adj" fmla="val 12413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534525" y="8201918"/>
            <a:ext cx="365664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IP68</a:t>
            </a:r>
            <a:endParaRPr lang="en-US" sz="2250" dirty="0"/>
          </a:p>
        </p:txBody>
      </p:sp>
      <p:sp>
        <p:nvSpPr>
          <p:cNvPr id="15" name="Text 11"/>
          <p:cNvSpPr/>
          <p:nvPr/>
        </p:nvSpPr>
        <p:spPr>
          <a:xfrm>
            <a:off x="9534525" y="8601968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724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батарея 5–7 дней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13363575" y="7944743"/>
            <a:ext cx="3876675" cy="1227758"/>
          </a:xfrm>
          <a:prstGeom prst="roundRect">
            <a:avLst>
              <a:gd name="adj" fmla="val 12413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3639800" y="8201918"/>
            <a:ext cx="3656648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≈ 25 г</a:t>
            </a:r>
            <a:endParaRPr lang="en-US" sz="2250" dirty="0"/>
          </a:p>
        </p:txBody>
      </p:sp>
      <p:sp>
        <p:nvSpPr>
          <p:cNvPr id="18" name="Text 14"/>
          <p:cNvSpPr/>
          <p:nvPr/>
        </p:nvSpPr>
        <p:spPr>
          <a:xfrm>
            <a:off x="13639800" y="8606730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724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алюминий, 40 мм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1999357"/>
            <a:ext cx="2260402" cy="428625"/>
          </a:xfrm>
          <a:prstGeom prst="roundRect">
            <a:avLst>
              <a:gd name="adj" fmla="val 22222"/>
            </a:avLst>
          </a:prstGeom>
          <a:solidFill>
            <a:srgbClr val="E8F5F0"/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2075557"/>
            <a:ext cx="19937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Раздел 02 · Цена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656582"/>
            <a:ext cx="9634923" cy="1278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383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Медизделие дешевле фитнес-браслета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5181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3D2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Damumed Band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705350" y="4430018"/>
            <a:ext cx="2564829" cy="495300"/>
          </a:xfrm>
          <a:prstGeom prst="roundRect">
            <a:avLst>
              <a:gd name="adj" fmla="val 19231"/>
            </a:avLst>
          </a:prstGeom>
          <a:solidFill>
            <a:srgbClr val="0E7A50"/>
          </a:solidFill>
          <a:ln/>
        </p:spPr>
      </p:sp>
      <p:sp>
        <p:nvSpPr>
          <p:cNvPr id="7" name="Text 5"/>
          <p:cNvSpPr/>
          <p:nvPr/>
        </p:nvSpPr>
        <p:spPr>
          <a:xfrm>
            <a:off x="12477750" y="45062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14 990 ₸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047750" y="52039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Huawei Band 10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705350" y="5115818"/>
            <a:ext cx="2866579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</p:sp>
      <p:sp>
        <p:nvSpPr>
          <p:cNvPr id="10" name="Text 8"/>
          <p:cNvSpPr/>
          <p:nvPr/>
        </p:nvSpPr>
        <p:spPr>
          <a:xfrm>
            <a:off x="12477750" y="51920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16 890 ₸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047750" y="58897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Xiaomi Smart Band 10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705350" y="5801618"/>
            <a:ext cx="3771900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</p:sp>
      <p:sp>
        <p:nvSpPr>
          <p:cNvPr id="13" name="Text 11"/>
          <p:cNvSpPr/>
          <p:nvPr/>
        </p:nvSpPr>
        <p:spPr>
          <a:xfrm>
            <a:off x="12477750" y="58778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21 989 ₸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047750" y="65755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Samsung Galaxy Fit3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4705350" y="6487418"/>
            <a:ext cx="3847281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</p:sp>
      <p:sp>
        <p:nvSpPr>
          <p:cNvPr id="16" name="Text 14"/>
          <p:cNvSpPr/>
          <p:nvPr/>
        </p:nvSpPr>
        <p:spPr>
          <a:xfrm>
            <a:off x="12477750" y="65636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22 299 ₸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047750" y="72613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Honor Band 9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705350" y="7173218"/>
            <a:ext cx="5959599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</p:sp>
      <p:sp>
        <p:nvSpPr>
          <p:cNvPr id="19" name="Text 17"/>
          <p:cNvSpPr/>
          <p:nvPr/>
        </p:nvSpPr>
        <p:spPr>
          <a:xfrm>
            <a:off x="12477750" y="72494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34 880 ₸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047750" y="8011418"/>
            <a:ext cx="178117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Розничные цены, Kaspi, проверено 31 августа 2026 · на треть ниже Xiaomi Band 10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2185541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383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Две линии дохода, они не пересекаются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1047750" y="3338959"/>
            <a:ext cx="7943850" cy="2228850"/>
          </a:xfrm>
          <a:prstGeom prst="roundRect">
            <a:avLst>
              <a:gd name="adj" fmla="val 8547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76375" y="372948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Человек · браслет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76375" y="4120009"/>
            <a:ext cx="779526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14 990 ₸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476375" y="4901059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EDCC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один раз, в рассрочку — 1 250 ₸/мес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296400" y="3338959"/>
            <a:ext cx="7943850" cy="2228850"/>
          </a:xfrm>
          <a:prstGeom prst="roundRect">
            <a:avLst>
              <a:gd name="adj" fmla="val 8547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25025" y="372948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Человек · подписка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725025" y="4120009"/>
            <a:ext cx="779526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690 ₸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/мес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9725025" y="4901059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EDCC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 желанию; базовые функции бесплатны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47750" y="5872609"/>
            <a:ext cx="7943850" cy="2228850"/>
          </a:xfrm>
          <a:prstGeom prst="roundRect">
            <a:avLst>
              <a:gd name="adj" fmla="val 8547"/>
            </a:avLst>
          </a:prstGeom>
          <a:solidFill>
            <a:srgbClr val="0E4C36"/>
          </a:solidFill>
          <a:ln w="9525">
            <a:solidFill>
              <a:srgbClr val="3ECF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76375" y="626313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Поликлинике · модуль наблюдения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76375" y="6653659"/>
            <a:ext cx="779526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0 ₸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476375" y="7434709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EDCC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входит в действующую аренду МИС Damumed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296400" y="5872609"/>
            <a:ext cx="7943850" cy="2228850"/>
          </a:xfrm>
          <a:prstGeom prst="roundRect">
            <a:avLst>
              <a:gd name="adj" fmla="val 8547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25025" y="626313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Поликлинике · браслеты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725025" y="6653659"/>
            <a:ext cx="779526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6 900 ₸</a:t>
            </a:r>
            <a:endParaRPr lang="en-US" sz="4500" dirty="0"/>
          </a:p>
        </p:txBody>
      </p:sp>
      <p:sp>
        <p:nvSpPr>
          <p:cNvPr id="18" name="Text 16"/>
          <p:cNvSpPr/>
          <p:nvPr/>
        </p:nvSpPr>
        <p:spPr>
          <a:xfrm>
            <a:off x="9725025" y="7434709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EDCC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закуп; или рассрочка — 640 ₸/мес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64990"/>
            <a:ext cx="4004221" cy="428625"/>
          </a:xfrm>
          <a:prstGeom prst="roundRect">
            <a:avLst>
              <a:gd name="adj" fmla="val 22222"/>
            </a:avLst>
          </a:prstGeom>
          <a:solidFill>
            <a:srgbClr val="E8F5F0"/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2141190"/>
            <a:ext cx="378144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Раздел 03 · Три ценовых уровня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722215"/>
            <a:ext cx="17811750" cy="618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87" kern="0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Цену вниз оплачивает размер партии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1047750" y="3759473"/>
            <a:ext cx="16192500" cy="3443288"/>
          </a:xfrm>
          <a:prstGeom prst="roundRect">
            <a:avLst>
              <a:gd name="adj" fmla="val 5533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7275" y="3768998"/>
            <a:ext cx="16173450" cy="733425"/>
          </a:xfrm>
          <a:prstGeom prst="rect">
            <a:avLst/>
          </a:prstGeom>
          <a:solidFill>
            <a:srgbClr val="0B3D2C"/>
          </a:solidFill>
          <a:ln/>
        </p:spPr>
      </p:sp>
      <p:sp>
        <p:nvSpPr>
          <p:cNvPr id="7" name="Text 5"/>
          <p:cNvSpPr/>
          <p:nvPr/>
        </p:nvSpPr>
        <p:spPr>
          <a:xfrm>
            <a:off x="1362075" y="3997598"/>
            <a:ext cx="347642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Уровень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214789" y="3997598"/>
            <a:ext cx="276219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Розница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66435" y="3997598"/>
            <a:ext cx="276211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Поликлинике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318007" y="3997598"/>
            <a:ext cx="276211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Партия 10 тыс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369579" y="3997598"/>
            <a:ext cx="276211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Партия 20 тыс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57275" y="4502423"/>
            <a:ext cx="16173450" cy="900113"/>
          </a:xfrm>
          <a:prstGeom prst="rect">
            <a:avLst/>
          </a:prstGeom>
          <a:solidFill>
            <a:srgbClr val="E8F5F0"/>
          </a:solidFill>
          <a:ln/>
        </p:spPr>
      </p:sp>
      <p:sp>
        <p:nvSpPr>
          <p:cNvPr id="13" name="Shape 11"/>
          <p:cNvSpPr/>
          <p:nvPr/>
        </p:nvSpPr>
        <p:spPr>
          <a:xfrm>
            <a:off x="1057275" y="5393010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</p:sp>
      <p:sp>
        <p:nvSpPr>
          <p:cNvPr id="14" name="Text 12"/>
          <p:cNvSpPr/>
          <p:nvPr/>
        </p:nvSpPr>
        <p:spPr>
          <a:xfrm>
            <a:off x="1362075" y="4788173"/>
            <a:ext cx="347642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3D2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I. Базовый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214789" y="4788173"/>
            <a:ext cx="2762196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14 990 ₸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8266435" y="4788173"/>
            <a:ext cx="276211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6 900 ₸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1318007" y="4788173"/>
            <a:ext cx="276211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+20,0 млн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4369579" y="4788173"/>
            <a:ext cx="276211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+93,9 млн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057275" y="6293123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</p:sp>
      <p:sp>
        <p:nvSpPr>
          <p:cNvPr id="20" name="Text 18"/>
          <p:cNvSpPr/>
          <p:nvPr/>
        </p:nvSpPr>
        <p:spPr>
          <a:xfrm>
            <a:off x="1362075" y="5688285"/>
            <a:ext cx="347642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II. Массовый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5214789" y="5688285"/>
            <a:ext cx="2762196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11 990 ₸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8266435" y="5688285"/>
            <a:ext cx="276211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5 500 ₸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1318007" y="5688285"/>
            <a:ext cx="276211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+1,2 млн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4369579" y="5688285"/>
            <a:ext cx="276211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+56,3 млн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362075" y="6588398"/>
            <a:ext cx="347642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III. Доступный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5214789" y="6588398"/>
            <a:ext cx="2762196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9 990 ₸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8266435" y="6588398"/>
            <a:ext cx="276211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4 500 ₸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1318007" y="6588398"/>
            <a:ext cx="276211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C0453C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−11,7 млн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4369579" y="6588398"/>
            <a:ext cx="276211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+30,7 млн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047750" y="7507560"/>
            <a:ext cx="12361545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75" b="1" dirty="0">
                <a:solidFill>
                  <a:srgbClr val="0E7A50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Рекомендация: </a:t>
            </a:r>
            <a:pPr algn="l" indent="0" marL="0">
              <a:lnSpc>
                <a:spcPct val="125000"/>
              </a:lnSpc>
              <a:buNone/>
            </a:pPr>
            <a:r>
              <a:rPr lang="en-US" sz="1875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Базовый на партии 10 000 — осторожный вход, либо Массовый на 20 000 — ставка на охват: +56 млн против +20.</a:t>
            </a:r>
            <a:endParaRPr lang="en-US" sz="18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54572"/>
            <a:ext cx="2952527" cy="428625"/>
          </a:xfrm>
          <a:prstGeom prst="roundRect">
            <a:avLst>
              <a:gd name="adj" fmla="val 22222"/>
            </a:avLst>
          </a:prstGeom>
          <a:solidFill>
            <a:srgbClr val="E8F5F0"/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2130772"/>
            <a:ext cx="269820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Раздел 04 · Экономика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711797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383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Низкая цена — потому что софт свой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3865215"/>
            <a:ext cx="3848100" cy="2433638"/>
          </a:xfrm>
          <a:prstGeom prst="roundRect">
            <a:avLst>
              <a:gd name="adj" fmla="val 704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00175" y="4236690"/>
            <a:ext cx="345757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Себестоимость на складе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00175" y="4646265"/>
            <a:ext cx="3457575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4 026 ₸</a:t>
            </a:r>
            <a:endParaRPr lang="en-US" sz="4350" dirty="0"/>
          </a:p>
        </p:txBody>
      </p:sp>
      <p:sp>
        <p:nvSpPr>
          <p:cNvPr id="8" name="Shape 6"/>
          <p:cNvSpPr/>
          <p:nvPr/>
        </p:nvSpPr>
        <p:spPr>
          <a:xfrm>
            <a:off x="5162550" y="3865215"/>
            <a:ext cx="3848100" cy="2433638"/>
          </a:xfrm>
          <a:prstGeom prst="roundRect">
            <a:avLst>
              <a:gd name="adj" fmla="val 704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14975" y="4236690"/>
            <a:ext cx="345757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Вложения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514975" y="4646265"/>
            <a:ext cx="3457575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58 </a:t>
            </a:r>
            <a:pPr algn="l" indent="0" marL="0">
              <a:buNone/>
            </a:pPr>
            <a:r>
              <a:rPr lang="en-US" sz="2400" b="1" dirty="0">
                <a:solidFill>
                  <a:srgbClr val="7B8C82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млн ₸</a:t>
            </a:r>
            <a:endParaRPr lang="en-US" sz="4350" dirty="0"/>
          </a:p>
        </p:txBody>
      </p:sp>
      <p:sp>
        <p:nvSpPr>
          <p:cNvPr id="11" name="Text 9"/>
          <p:cNvSpPr/>
          <p:nvPr/>
        </p:nvSpPr>
        <p:spPr>
          <a:xfrm>
            <a:off x="5514975" y="5389215"/>
            <a:ext cx="345757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партия 40 + регистрация 18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277350" y="3865215"/>
            <a:ext cx="3848100" cy="2433638"/>
          </a:xfrm>
          <a:prstGeom prst="roundRect">
            <a:avLst>
              <a:gd name="adj" fmla="val 704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29775" y="4236690"/>
            <a:ext cx="345757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Маржа в рознице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29775" y="4646265"/>
            <a:ext cx="3457575" cy="709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0E7A50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≈ 8 900 ₸</a:t>
            </a:r>
            <a:endParaRPr lang="en-US" sz="4350" dirty="0"/>
          </a:p>
        </p:txBody>
      </p:sp>
      <p:sp>
        <p:nvSpPr>
          <p:cNvPr id="15" name="Text 13"/>
          <p:cNvSpPr/>
          <p:nvPr/>
        </p:nvSpPr>
        <p:spPr>
          <a:xfrm>
            <a:off x="9629775" y="5393978"/>
            <a:ext cx="345757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 вычетом комиссии Kaspi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392150" y="3865215"/>
            <a:ext cx="3848100" cy="2433638"/>
          </a:xfrm>
          <a:prstGeom prst="roundRect">
            <a:avLst>
              <a:gd name="adj" fmla="val 7045"/>
            </a:avLst>
          </a:prstGeom>
          <a:solidFill>
            <a:srgbClr val="0E7A50"/>
          </a:solidFill>
          <a:ln/>
        </p:spPr>
      </p:sp>
      <p:sp>
        <p:nvSpPr>
          <p:cNvPr id="17" name="Text 15"/>
          <p:cNvSpPr/>
          <p:nvPr/>
        </p:nvSpPr>
        <p:spPr>
          <a:xfrm>
            <a:off x="13735050" y="4227165"/>
            <a:ext cx="347853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EDCC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Выручка сервиса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35050" y="4636740"/>
            <a:ext cx="3478530" cy="709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FFFF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≈ 4 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млн ₸/мес</a:t>
            </a:r>
            <a:endParaRPr lang="en-US" sz="4350" dirty="0"/>
          </a:p>
        </p:txBody>
      </p:sp>
      <p:sp>
        <p:nvSpPr>
          <p:cNvPr id="19" name="Text 17"/>
          <p:cNvSpPr/>
          <p:nvPr/>
        </p:nvSpPr>
        <p:spPr>
          <a:xfrm>
            <a:off x="13735050" y="5384453"/>
            <a:ext cx="3257169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FE7D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не заканчивается с партией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47750" y="6717953"/>
            <a:ext cx="16192500" cy="108585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38275" y="7106096"/>
            <a:ext cx="3393237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B3D2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Себестоимость 4 026 ₸:</a:t>
            </a:r>
            <a:endParaRPr lang="en-US" sz="2025" dirty="0"/>
          </a:p>
        </p:txBody>
      </p:sp>
      <p:sp>
        <p:nvSpPr>
          <p:cNvPr id="22" name="Shape 20"/>
          <p:cNvSpPr/>
          <p:nvPr/>
        </p:nvSpPr>
        <p:spPr>
          <a:xfrm>
            <a:off x="4675436" y="7051328"/>
            <a:ext cx="10133781" cy="419100"/>
          </a:xfrm>
          <a:prstGeom prst="rect">
            <a:avLst/>
          </a:prstGeom>
          <a:solidFill>
            <a:srgbClr val="0B3D2C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886" y="7051328"/>
            <a:ext cx="1026634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Завод $7,5 — 3 488 ₸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4809217" y="7051328"/>
            <a:ext cx="840209" cy="419100"/>
          </a:xfrm>
          <a:prstGeom prst="rect">
            <a:avLst/>
          </a:prstGeom>
          <a:solidFill>
            <a:srgbClr val="0E7A50"/>
          </a:solidFill>
          <a:ln/>
        </p:spPr>
      </p:sp>
      <p:sp>
        <p:nvSpPr>
          <p:cNvPr id="25" name="Shape 23"/>
          <p:cNvSpPr/>
          <p:nvPr/>
        </p:nvSpPr>
        <p:spPr>
          <a:xfrm>
            <a:off x="15649426" y="7051328"/>
            <a:ext cx="600149" cy="419100"/>
          </a:xfrm>
          <a:prstGeom prst="rect">
            <a:avLst/>
          </a:prstGeom>
          <a:solidFill>
            <a:srgbClr val="3AAF7C"/>
          </a:solidFill>
          <a:ln/>
        </p:spPr>
      </p:sp>
      <p:sp>
        <p:nvSpPr>
          <p:cNvPr id="26" name="Shape 24"/>
          <p:cNvSpPr/>
          <p:nvPr/>
        </p:nvSpPr>
        <p:spPr>
          <a:xfrm>
            <a:off x="16249576" y="7051328"/>
            <a:ext cx="600149" cy="419100"/>
          </a:xfrm>
          <a:prstGeom prst="rect">
            <a:avLst/>
          </a:prstGeom>
          <a:solidFill>
            <a:srgbClr val="A9D9C0"/>
          </a:solidFill>
          <a:ln/>
        </p:spPr>
      </p:sp>
      <p:sp>
        <p:nvSpPr>
          <p:cNvPr id="27" name="Text 25"/>
          <p:cNvSpPr/>
          <p:nvPr/>
        </p:nvSpPr>
        <p:spPr>
          <a:xfrm>
            <a:off x="1047750" y="7956203"/>
            <a:ext cx="178117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Завод · упаковка 279 ₸ · логистика 186 ₸ · пошлина 73 ₸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1620217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383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Деньги во времени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1047750" y="2773635"/>
            <a:ext cx="5194250" cy="2897460"/>
          </a:xfrm>
          <a:prstGeom prst="roundRect">
            <a:avLst>
              <a:gd name="adj" fmla="val 6575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95425" y="3202260"/>
            <a:ext cx="4728790" cy="904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15 мес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495425" y="4202385"/>
            <a:ext cx="4427867" cy="107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вложения без выручки: производство, регистрация, разработка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6546800" y="2773635"/>
            <a:ext cx="5194325" cy="2897460"/>
          </a:xfrm>
          <a:prstGeom prst="roundRect">
            <a:avLst>
              <a:gd name="adj" fmla="val 6575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94475" y="3202260"/>
            <a:ext cx="4728872" cy="904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21 мес</a:t>
            </a:r>
            <a:endParaRPr lang="en-US" sz="5700" dirty="0"/>
          </a:p>
        </p:txBody>
      </p:sp>
      <p:sp>
        <p:nvSpPr>
          <p:cNvPr id="8" name="Text 6"/>
          <p:cNvSpPr/>
          <p:nvPr/>
        </p:nvSpPr>
        <p:spPr>
          <a:xfrm>
            <a:off x="6994475" y="4202385"/>
            <a:ext cx="4427944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выход в ноль от подписания контракта с заводом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045925" y="2773635"/>
            <a:ext cx="5194250" cy="2897460"/>
          </a:xfrm>
          <a:prstGeom prst="roundRect">
            <a:avLst>
              <a:gd name="adj" fmla="val 6575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493600" y="3202260"/>
            <a:ext cx="4728790" cy="904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+20 млн</a:t>
            </a:r>
            <a:endParaRPr lang="en-US" sz="5700" dirty="0"/>
          </a:p>
        </p:txBody>
      </p:sp>
      <p:sp>
        <p:nvSpPr>
          <p:cNvPr id="11" name="Text 9"/>
          <p:cNvSpPr/>
          <p:nvPr/>
        </p:nvSpPr>
        <p:spPr>
          <a:xfrm>
            <a:off x="12493600" y="4202385"/>
            <a:ext cx="4427867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результат к 24 мес · при партии 20 тыс — +94 млн ₸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047750" y="8242846"/>
            <a:ext cx="16192500" cy="190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7750" y="7942808"/>
            <a:ext cx="1026096" cy="300038"/>
          </a:xfrm>
          <a:custGeom>
            <a:avLst/>
            <a:gdLst/>
            <a:ahLst/>
            <a:cxnLst/>
            <a:rect l="l" t="t" r="r" b="b"/>
            <a:pathLst>
              <a:path w="1026096" h="300038">
                <a:moveTo>
                  <a:pt x="57150" y="0"/>
                </a:moveTo>
                <a:lnTo>
                  <a:pt x="968946" y="0"/>
                </a:lnTo>
                <a:arcTo hR="57150" wR="57150" stAng="16200000" swAng="5400000"/>
                <a:lnTo>
                  <a:pt x="1026096" y="300038"/>
                </a:lnTo>
                <a:lnTo>
                  <a:pt x="0" y="300038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</p:sp>
      <p:sp>
        <p:nvSpPr>
          <p:cNvPr id="14" name="Shape 12"/>
          <p:cNvSpPr/>
          <p:nvPr/>
        </p:nvSpPr>
        <p:spPr>
          <a:xfrm>
            <a:off x="2130996" y="7682805"/>
            <a:ext cx="1026170" cy="560040"/>
          </a:xfrm>
          <a:custGeom>
            <a:avLst/>
            <a:gdLst/>
            <a:ahLst/>
            <a:cxnLst/>
            <a:rect l="l" t="t" r="r" b="b"/>
            <a:pathLst>
              <a:path w="1026170" h="56004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560040"/>
                </a:lnTo>
                <a:lnTo>
                  <a:pt x="0" y="56004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</p:sp>
      <p:sp>
        <p:nvSpPr>
          <p:cNvPr id="15" name="Shape 13"/>
          <p:cNvSpPr/>
          <p:nvPr/>
        </p:nvSpPr>
        <p:spPr>
          <a:xfrm>
            <a:off x="3214315" y="7402785"/>
            <a:ext cx="1026096" cy="840060"/>
          </a:xfrm>
          <a:custGeom>
            <a:avLst/>
            <a:gdLst/>
            <a:ahLst/>
            <a:cxnLst/>
            <a:rect l="l" t="t" r="r" b="b"/>
            <a:pathLst>
              <a:path w="1026096" h="840060">
                <a:moveTo>
                  <a:pt x="57150" y="0"/>
                </a:moveTo>
                <a:lnTo>
                  <a:pt x="968946" y="0"/>
                </a:lnTo>
                <a:arcTo hR="57150" wR="57150" stAng="16200000" swAng="5400000"/>
                <a:lnTo>
                  <a:pt x="1026096" y="840060"/>
                </a:lnTo>
                <a:lnTo>
                  <a:pt x="0" y="84006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7561" y="7042696"/>
            <a:ext cx="1026170" cy="1200150"/>
          </a:xfrm>
          <a:custGeom>
            <a:avLst/>
            <a:gdLst/>
            <a:ahLst/>
            <a:cxnLst/>
            <a:rect l="l" t="t" r="r" b="b"/>
            <a:pathLst>
              <a:path w="1026170" h="120015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200150"/>
                </a:lnTo>
                <a:lnTo>
                  <a:pt x="0" y="120015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</p:sp>
      <p:sp>
        <p:nvSpPr>
          <p:cNvPr id="17" name="Shape 15"/>
          <p:cNvSpPr/>
          <p:nvPr/>
        </p:nvSpPr>
        <p:spPr>
          <a:xfrm>
            <a:off x="5380881" y="6682680"/>
            <a:ext cx="1026170" cy="1560165"/>
          </a:xfrm>
          <a:custGeom>
            <a:avLst/>
            <a:gdLst/>
            <a:ahLst/>
            <a:cxnLst/>
            <a:rect l="l" t="t" r="r" b="b"/>
            <a:pathLst>
              <a:path w="1026170" h="156016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560165"/>
                </a:lnTo>
                <a:lnTo>
                  <a:pt x="0" y="156016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</p:sp>
      <p:sp>
        <p:nvSpPr>
          <p:cNvPr id="18" name="Shape 16"/>
          <p:cNvSpPr/>
          <p:nvPr/>
        </p:nvSpPr>
        <p:spPr>
          <a:xfrm>
            <a:off x="6464201" y="6842671"/>
            <a:ext cx="1026170" cy="1400175"/>
          </a:xfrm>
          <a:custGeom>
            <a:avLst/>
            <a:gdLst/>
            <a:ahLst/>
            <a:cxnLst/>
            <a:rect l="l" t="t" r="r" b="b"/>
            <a:pathLst>
              <a:path w="1026170" h="140017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400175"/>
                </a:lnTo>
                <a:lnTo>
                  <a:pt x="0" y="140017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</p:sp>
      <p:sp>
        <p:nvSpPr>
          <p:cNvPr id="19" name="Shape 17"/>
          <p:cNvSpPr/>
          <p:nvPr/>
        </p:nvSpPr>
        <p:spPr>
          <a:xfrm>
            <a:off x="7547521" y="7242721"/>
            <a:ext cx="1026170" cy="1000125"/>
          </a:xfrm>
          <a:custGeom>
            <a:avLst/>
            <a:gdLst/>
            <a:ahLst/>
            <a:cxnLst/>
            <a:rect l="l" t="t" r="r" b="b"/>
            <a:pathLst>
              <a:path w="1026170" h="100012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000125"/>
                </a:lnTo>
                <a:lnTo>
                  <a:pt x="0" y="100012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</p:sp>
      <p:sp>
        <p:nvSpPr>
          <p:cNvPr id="20" name="Shape 18"/>
          <p:cNvSpPr/>
          <p:nvPr/>
        </p:nvSpPr>
        <p:spPr>
          <a:xfrm>
            <a:off x="8630841" y="7642771"/>
            <a:ext cx="1026170" cy="600075"/>
          </a:xfrm>
          <a:custGeom>
            <a:avLst/>
            <a:gdLst/>
            <a:ahLst/>
            <a:cxnLst/>
            <a:rect l="l" t="t" r="r" b="b"/>
            <a:pathLst>
              <a:path w="1026170" h="60007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600075"/>
                </a:lnTo>
                <a:lnTo>
                  <a:pt x="0" y="60007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</p:sp>
      <p:sp>
        <p:nvSpPr>
          <p:cNvPr id="21" name="Shape 19"/>
          <p:cNvSpPr/>
          <p:nvPr/>
        </p:nvSpPr>
        <p:spPr>
          <a:xfrm>
            <a:off x="9714161" y="8042821"/>
            <a:ext cx="1026170" cy="200025"/>
          </a:xfrm>
          <a:custGeom>
            <a:avLst/>
            <a:gdLst/>
            <a:ahLst/>
            <a:cxnLst/>
            <a:rect l="l" t="t" r="r" b="b"/>
            <a:pathLst>
              <a:path w="1026170" h="20002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200025"/>
                </a:lnTo>
                <a:lnTo>
                  <a:pt x="0" y="20002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E0A38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797480" y="8002860"/>
            <a:ext cx="1026170" cy="239985"/>
          </a:xfrm>
          <a:custGeom>
            <a:avLst/>
            <a:gdLst/>
            <a:ahLst/>
            <a:cxnLst/>
            <a:rect l="l" t="t" r="r" b="b"/>
            <a:pathLst>
              <a:path w="1026170" h="23998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239985"/>
                </a:lnTo>
                <a:lnTo>
                  <a:pt x="0" y="23998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80800" y="7762801"/>
            <a:ext cx="1026170" cy="480045"/>
          </a:xfrm>
          <a:custGeom>
            <a:avLst/>
            <a:gdLst/>
            <a:ahLst/>
            <a:cxnLst/>
            <a:rect l="l" t="t" r="r" b="b"/>
            <a:pathLst>
              <a:path w="1026170" h="48004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480045"/>
                </a:lnTo>
                <a:lnTo>
                  <a:pt x="0" y="48004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</p:sp>
      <p:sp>
        <p:nvSpPr>
          <p:cNvPr id="24" name="Shape 22"/>
          <p:cNvSpPr/>
          <p:nvPr/>
        </p:nvSpPr>
        <p:spPr>
          <a:xfrm>
            <a:off x="12964120" y="7522815"/>
            <a:ext cx="1026170" cy="720030"/>
          </a:xfrm>
          <a:custGeom>
            <a:avLst/>
            <a:gdLst/>
            <a:ahLst/>
            <a:cxnLst/>
            <a:rect l="l" t="t" r="r" b="b"/>
            <a:pathLst>
              <a:path w="1026170" h="72003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720030"/>
                </a:lnTo>
                <a:lnTo>
                  <a:pt x="0" y="72003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</p:sp>
      <p:sp>
        <p:nvSpPr>
          <p:cNvPr id="25" name="Shape 23"/>
          <p:cNvSpPr/>
          <p:nvPr/>
        </p:nvSpPr>
        <p:spPr>
          <a:xfrm>
            <a:off x="14047440" y="7282755"/>
            <a:ext cx="1026170" cy="960090"/>
          </a:xfrm>
          <a:custGeom>
            <a:avLst/>
            <a:gdLst/>
            <a:ahLst/>
            <a:cxnLst/>
            <a:rect l="l" t="t" r="r" b="b"/>
            <a:pathLst>
              <a:path w="1026170" h="96009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960090"/>
                </a:lnTo>
                <a:lnTo>
                  <a:pt x="0" y="96009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</p:sp>
      <p:sp>
        <p:nvSpPr>
          <p:cNvPr id="26" name="Shape 24"/>
          <p:cNvSpPr/>
          <p:nvPr/>
        </p:nvSpPr>
        <p:spPr>
          <a:xfrm>
            <a:off x="15130760" y="7042696"/>
            <a:ext cx="1026170" cy="1200150"/>
          </a:xfrm>
          <a:custGeom>
            <a:avLst/>
            <a:gdLst/>
            <a:ahLst/>
            <a:cxnLst/>
            <a:rect l="l" t="t" r="r" b="b"/>
            <a:pathLst>
              <a:path w="1026170" h="120015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200150"/>
                </a:lnTo>
                <a:lnTo>
                  <a:pt x="0" y="120015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</p:sp>
      <p:sp>
        <p:nvSpPr>
          <p:cNvPr id="27" name="Shape 25"/>
          <p:cNvSpPr/>
          <p:nvPr/>
        </p:nvSpPr>
        <p:spPr>
          <a:xfrm>
            <a:off x="16214080" y="6762676"/>
            <a:ext cx="1026170" cy="1480170"/>
          </a:xfrm>
          <a:custGeom>
            <a:avLst/>
            <a:gdLst/>
            <a:ahLst/>
            <a:cxnLst/>
            <a:rect l="l" t="t" r="r" b="b"/>
            <a:pathLst>
              <a:path w="1026170" h="148017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480170"/>
                </a:lnTo>
                <a:lnTo>
                  <a:pt x="0" y="148017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</p:sp>
      <p:sp>
        <p:nvSpPr>
          <p:cNvPr id="28" name="Text 26"/>
          <p:cNvSpPr/>
          <p:nvPr/>
        </p:nvSpPr>
        <p:spPr>
          <a:xfrm>
            <a:off x="1047750" y="8395246"/>
            <a:ext cx="763414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мес 1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631906" y="8395246"/>
            <a:ext cx="3175665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старт продаж · мес 16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6415817" y="8395246"/>
            <a:ext cx="900633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мес 36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195066"/>
            <a:ext cx="3569940" cy="428625"/>
          </a:xfrm>
          <a:prstGeom prst="roundRect">
            <a:avLst>
              <a:gd name="adj" fmla="val 22222"/>
            </a:avLst>
          </a:prstGeom>
          <a:solidFill>
            <a:srgbClr val="E8F5F0"/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2271266"/>
            <a:ext cx="333413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Раздел 05 · Целевые группы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52291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383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Пациенты на диспансерном учёте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07952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B3D2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Гипертония</a:t>
            </a:r>
            <a:endParaRPr lang="en-US" sz="2025" dirty="0"/>
          </a:p>
        </p:txBody>
      </p:sp>
      <p:sp>
        <p:nvSpPr>
          <p:cNvPr id="6" name="Shape 4"/>
          <p:cNvSpPr/>
          <p:nvPr/>
        </p:nvSpPr>
        <p:spPr>
          <a:xfrm>
            <a:off x="5295900" y="3967609"/>
            <a:ext cx="7600950" cy="533400"/>
          </a:xfrm>
          <a:prstGeom prst="roundRect">
            <a:avLst>
              <a:gd name="adj" fmla="val 17857"/>
            </a:avLst>
          </a:prstGeom>
          <a:solidFill>
            <a:srgbClr val="0E7A50"/>
          </a:solidFill>
          <a:ln/>
        </p:spPr>
      </p:sp>
      <p:sp>
        <p:nvSpPr>
          <p:cNvPr id="7" name="Text 5"/>
          <p:cNvSpPr/>
          <p:nvPr/>
        </p:nvSpPr>
        <p:spPr>
          <a:xfrm>
            <a:off x="13144500" y="407476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E7A50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1 776 876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47750" y="482247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Диабет 2 типа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5295900" y="4710559"/>
            <a:ext cx="2128242" cy="533400"/>
          </a:xfrm>
          <a:prstGeom prst="roundRect">
            <a:avLst>
              <a:gd name="adj" fmla="val 17857"/>
            </a:avLst>
          </a:prstGeom>
          <a:solidFill>
            <a:srgbClr val="3AAF7C"/>
          </a:solidFill>
          <a:ln/>
        </p:spPr>
      </p:sp>
      <p:sp>
        <p:nvSpPr>
          <p:cNvPr id="10" name="Text 8"/>
          <p:cNvSpPr/>
          <p:nvPr/>
        </p:nvSpPr>
        <p:spPr>
          <a:xfrm>
            <a:off x="13144500" y="481771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492 335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47750" y="556542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Астма</a:t>
            </a:r>
            <a:endParaRPr lang="en-US" sz="2025" dirty="0"/>
          </a:p>
        </p:txBody>
      </p:sp>
      <p:sp>
        <p:nvSpPr>
          <p:cNvPr id="12" name="Shape 10"/>
          <p:cNvSpPr/>
          <p:nvPr/>
        </p:nvSpPr>
        <p:spPr>
          <a:xfrm>
            <a:off x="5295900" y="5453509"/>
            <a:ext cx="532061" cy="533400"/>
          </a:xfrm>
          <a:prstGeom prst="roundRect">
            <a:avLst>
              <a:gd name="adj" fmla="val 17902"/>
            </a:avLst>
          </a:prstGeom>
          <a:solidFill>
            <a:srgbClr val="7BC7A0"/>
          </a:solidFill>
          <a:ln/>
        </p:spPr>
      </p:sp>
      <p:sp>
        <p:nvSpPr>
          <p:cNvPr id="13" name="Text 11"/>
          <p:cNvSpPr/>
          <p:nvPr/>
        </p:nvSpPr>
        <p:spPr>
          <a:xfrm>
            <a:off x="13144500" y="556066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110 000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47750" y="630837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Лёгочная болезнь (ХОБЛ)</a:t>
            </a:r>
            <a:endParaRPr lang="en-US" sz="2025" dirty="0"/>
          </a:p>
        </p:txBody>
      </p:sp>
      <p:sp>
        <p:nvSpPr>
          <p:cNvPr id="15" name="Shape 13"/>
          <p:cNvSpPr/>
          <p:nvPr/>
        </p:nvSpPr>
        <p:spPr>
          <a:xfrm>
            <a:off x="5295900" y="6196459"/>
            <a:ext cx="380033" cy="533400"/>
          </a:xfrm>
          <a:prstGeom prst="roundRect">
            <a:avLst>
              <a:gd name="adj" fmla="val 25064"/>
            </a:avLst>
          </a:prstGeom>
          <a:solidFill>
            <a:srgbClr val="A9D9C0"/>
          </a:solidFill>
          <a:ln/>
        </p:spPr>
      </p:sp>
      <p:sp>
        <p:nvSpPr>
          <p:cNvPr id="16" name="Text 14"/>
          <p:cNvSpPr/>
          <p:nvPr/>
        </p:nvSpPr>
        <p:spPr>
          <a:xfrm>
            <a:off x="13144500" y="630361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70 000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047750" y="705132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Сердечная недостаточность</a:t>
            </a:r>
            <a:endParaRPr lang="en-US" sz="2025" dirty="0"/>
          </a:p>
        </p:txBody>
      </p:sp>
      <p:sp>
        <p:nvSpPr>
          <p:cNvPr id="18" name="Shape 16"/>
          <p:cNvSpPr/>
          <p:nvPr/>
        </p:nvSpPr>
        <p:spPr>
          <a:xfrm>
            <a:off x="5295900" y="6939409"/>
            <a:ext cx="228005" cy="533400"/>
          </a:xfrm>
          <a:prstGeom prst="roundRect">
            <a:avLst>
              <a:gd name="adj" fmla="val 41775"/>
            </a:avLst>
          </a:prstGeom>
          <a:solidFill>
            <a:srgbClr val="C7E5D5"/>
          </a:solidFill>
          <a:ln/>
        </p:spPr>
      </p:sp>
      <p:sp>
        <p:nvSpPr>
          <p:cNvPr id="19" name="Text 17"/>
          <p:cNvSpPr/>
          <p:nvPr/>
        </p:nvSpPr>
        <p:spPr>
          <a:xfrm>
            <a:off x="13144500" y="704656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37 485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047750" y="7815709"/>
            <a:ext cx="178117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Данные Минздрава и НЦОЗ · численность целевых групп, человек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578671"/>
            <a:ext cx="3133651" cy="428625"/>
          </a:xfrm>
          <a:prstGeom prst="roundRect">
            <a:avLst>
              <a:gd name="adj" fmla="val 22222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2654871"/>
            <a:ext cx="28847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Раздел 06 · Приложение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3254946"/>
            <a:ext cx="8364891" cy="1330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8680"/>
              </a:lnSpc>
              <a:buNone/>
            </a:pPr>
            <a:r>
              <a:rPr lang="en-US" sz="4800" b="1" spc="-96" kern="0" dirty="0">
                <a:solidFill>
                  <a:srgbClr val="F2F7F4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Продукт целиком живёт в приложении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047750" y="4966320"/>
            <a:ext cx="8933378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Личный коридор, а не норма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047750" y="5313983"/>
            <a:ext cx="893337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6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«выше вашего обычного», а не «пульс 68»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47750" y="5843513"/>
            <a:ext cx="8933378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Три уровня раскрытия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1047750" y="6191176"/>
            <a:ext cx="893337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6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статус → тренд → сырые данные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47750" y="6720706"/>
            <a:ext cx="8933378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Честная калибровка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1047750" y="7068369"/>
            <a:ext cx="8364891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6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пишем, сколько ночей осталось; ИИ следит за качеством сигнала и готовит врачу черновик заключения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931003" y="1524000"/>
            <a:ext cx="7309247" cy="7239000"/>
          </a:xfrm>
          <a:prstGeom prst="roundRect">
            <a:avLst>
              <a:gd name="adj" fmla="val 3158"/>
            </a:avLst>
          </a:prstGeom>
          <a:ln/>
          <a:effectLst>
            <a:outerShdw sx="100000" sy="100000" kx="0" ky="0" algn="bl" rotWithShape="0" blurRad="666750" dist="285750" dir="5400000">
              <a:srgbClr val="000000">
                <a:alpha val="35000"/>
              </a:srgbClr>
            </a:outerShdw>
          </a:effectLst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16261" b="16261"/>
          <a:stretch/>
        </p:blipFill>
        <p:spPr>
          <a:xfrm>
            <a:off x="9931003" y="1524000"/>
            <a:ext cx="7309247" cy="723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2444651"/>
            <a:ext cx="17811750" cy="618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87" kern="0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Рабочее место врача — не добавить работы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3481908"/>
            <a:ext cx="16192500" cy="4360366"/>
          </a:xfrm>
          <a:prstGeom prst="roundRect">
            <a:avLst>
              <a:gd name="adj" fmla="val 436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  <a:effectLst>
            <a:outerShdw sx="100000" sy="100000" kx="0" ky="0" algn="bl" rotWithShape="0" blurRad="476250" dist="190500" dir="5400000">
              <a:srgbClr val="0B3D2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57275" y="3491433"/>
            <a:ext cx="16173450" cy="752475"/>
          </a:xfrm>
          <a:prstGeom prst="rect">
            <a:avLst/>
          </a:prstGeom>
          <a:solidFill>
            <a:srgbClr val="0E7A50"/>
          </a:solidFill>
          <a:ln/>
        </p:spPr>
      </p:sp>
      <p:sp>
        <p:nvSpPr>
          <p:cNvPr id="5" name="Text 3"/>
          <p:cNvSpPr/>
          <p:nvPr/>
        </p:nvSpPr>
        <p:spPr>
          <a:xfrm>
            <a:off x="1400175" y="3720033"/>
            <a:ext cx="152652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98" kern="0" dirty="0">
                <a:solidFill>
                  <a:srgbClr val="FFFF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DAMUMED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2978423" y="3729558"/>
            <a:ext cx="781294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FE7D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Дистанционное наблюдение · 143 пациента · тревог за сутки: 3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57275" y="4243908"/>
            <a:ext cx="16173450" cy="666750"/>
          </a:xfrm>
          <a:prstGeom prst="rect">
            <a:avLst/>
          </a:prstGeom>
          <a:solidFill>
            <a:srgbClr val="F4F7F5"/>
          </a:solidFill>
          <a:ln/>
        </p:spPr>
      </p:sp>
      <p:sp>
        <p:nvSpPr>
          <p:cNvPr id="8" name="Shape 6"/>
          <p:cNvSpPr/>
          <p:nvPr/>
        </p:nvSpPr>
        <p:spPr>
          <a:xfrm>
            <a:off x="1057275" y="4901133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</p:sp>
      <p:sp>
        <p:nvSpPr>
          <p:cNvPr id="9" name="Text 7"/>
          <p:cNvSpPr/>
          <p:nvPr/>
        </p:nvSpPr>
        <p:spPr>
          <a:xfrm>
            <a:off x="1400175" y="4434408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B8C82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Пациент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224215" y="4434408"/>
            <a:ext cx="282259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B8C82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Диагноз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334500" y="4434408"/>
            <a:ext cx="282251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B8C82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Состояние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444710" y="4434408"/>
            <a:ext cx="47448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B8C82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Что произошло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57275" y="4910658"/>
            <a:ext cx="16173450" cy="1070521"/>
          </a:xfrm>
          <a:prstGeom prst="rect">
            <a:avLst/>
          </a:prstGeom>
          <a:solidFill>
            <a:srgbClr val="FBECEA"/>
          </a:solidFill>
          <a:ln/>
        </p:spPr>
      </p:sp>
      <p:sp>
        <p:nvSpPr>
          <p:cNvPr id="14" name="Shape 12"/>
          <p:cNvSpPr/>
          <p:nvPr/>
        </p:nvSpPr>
        <p:spPr>
          <a:xfrm>
            <a:off x="1057275" y="5971654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</p:sp>
      <p:sp>
        <p:nvSpPr>
          <p:cNvPr id="15" name="Text 13"/>
          <p:cNvSpPr/>
          <p:nvPr/>
        </p:nvSpPr>
        <p:spPr>
          <a:xfrm>
            <a:off x="1400175" y="5298281"/>
            <a:ext cx="443993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Абенова Г. К.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6224215" y="5310187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ХСН IIБ</a:t>
            </a:r>
            <a:endParaRPr lang="en-US" sz="1725" dirty="0"/>
          </a:p>
        </p:txBody>
      </p:sp>
      <p:sp>
        <p:nvSpPr>
          <p:cNvPr id="17" name="Shape 15"/>
          <p:cNvSpPr/>
          <p:nvPr/>
        </p:nvSpPr>
        <p:spPr>
          <a:xfrm>
            <a:off x="9334500" y="5269706"/>
            <a:ext cx="1321743" cy="342900"/>
          </a:xfrm>
          <a:prstGeom prst="roundRect">
            <a:avLst>
              <a:gd name="adj" fmla="val 50000"/>
            </a:avLst>
          </a:prstGeom>
          <a:solidFill>
            <a:srgbClr val="FBE4E2"/>
          </a:solidFill>
          <a:ln/>
        </p:spPr>
      </p:sp>
      <p:sp>
        <p:nvSpPr>
          <p:cNvPr id="18" name="Text 16"/>
          <p:cNvSpPr/>
          <p:nvPr/>
        </p:nvSpPr>
        <p:spPr>
          <a:xfrm>
            <a:off x="9486900" y="5326856"/>
            <a:ext cx="109314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453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● Красный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44710" y="5158308"/>
            <a:ext cx="4744810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75"/>
              </a:lnSpc>
              <a:buNone/>
            </a:pPr>
            <a:r>
              <a:rPr lang="en-US" sz="1650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Вес +2,3 кг за 3 дня, ночной пульс 74 при коридоре 58–66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057275" y="7042175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</p:sp>
      <p:sp>
        <p:nvSpPr>
          <p:cNvPr id="21" name="Text 19"/>
          <p:cNvSpPr/>
          <p:nvPr/>
        </p:nvSpPr>
        <p:spPr>
          <a:xfrm>
            <a:off x="1400175" y="6368802"/>
            <a:ext cx="443993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Кимова А. С.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6224215" y="6380708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АГ II, 68 лет</a:t>
            </a:r>
            <a:endParaRPr lang="en-US" sz="1725" dirty="0"/>
          </a:p>
        </p:txBody>
      </p:sp>
      <p:sp>
        <p:nvSpPr>
          <p:cNvPr id="23" name="Shape 21"/>
          <p:cNvSpPr/>
          <p:nvPr/>
        </p:nvSpPr>
        <p:spPr>
          <a:xfrm>
            <a:off x="9334500" y="6340227"/>
            <a:ext cx="1241971" cy="342900"/>
          </a:xfrm>
          <a:prstGeom prst="roundRect">
            <a:avLst>
              <a:gd name="adj" fmla="val 50000"/>
            </a:avLst>
          </a:prstGeom>
          <a:solidFill>
            <a:srgbClr val="FBF0D9"/>
          </a:solidFill>
          <a:ln/>
        </p:spPr>
      </p:sp>
      <p:sp>
        <p:nvSpPr>
          <p:cNvPr id="24" name="Text 22"/>
          <p:cNvSpPr/>
          <p:nvPr/>
        </p:nvSpPr>
        <p:spPr>
          <a:xfrm>
            <a:off x="9486900" y="6397377"/>
            <a:ext cx="101337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877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● Жёлтый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444710" y="6228829"/>
            <a:ext cx="4744810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75"/>
              </a:lnSpc>
              <a:buNone/>
            </a:pPr>
            <a:r>
              <a:rPr lang="en-US" sz="1650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Два эпизода нерегулярного ритма за неделю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400175" y="7299350"/>
            <a:ext cx="443993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7B8C82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Остальные 140</a:t>
            </a:r>
            <a:endParaRPr lang="en-US" sz="1875" dirty="0"/>
          </a:p>
        </p:txBody>
      </p:sp>
      <p:sp>
        <p:nvSpPr>
          <p:cNvPr id="27" name="Text 25"/>
          <p:cNvSpPr/>
          <p:nvPr/>
        </p:nvSpPr>
        <p:spPr>
          <a:xfrm>
            <a:off x="6224215" y="7311256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ХСН · АГ · СД2</a:t>
            </a:r>
            <a:endParaRPr lang="en-US" sz="1725" dirty="0"/>
          </a:p>
        </p:txBody>
      </p:sp>
      <p:sp>
        <p:nvSpPr>
          <p:cNvPr id="28" name="Shape 26"/>
          <p:cNvSpPr/>
          <p:nvPr/>
        </p:nvSpPr>
        <p:spPr>
          <a:xfrm>
            <a:off x="9334500" y="7270775"/>
            <a:ext cx="1308199" cy="342900"/>
          </a:xfrm>
          <a:prstGeom prst="roundRect">
            <a:avLst>
              <a:gd name="adj" fmla="val 50000"/>
            </a:avLst>
          </a:prstGeom>
          <a:solidFill>
            <a:srgbClr val="E8F5F0"/>
          </a:solidFill>
          <a:ln/>
        </p:spPr>
      </p:sp>
      <p:sp>
        <p:nvSpPr>
          <p:cNvPr id="29" name="Text 27"/>
          <p:cNvSpPr/>
          <p:nvPr/>
        </p:nvSpPr>
        <p:spPr>
          <a:xfrm>
            <a:off x="9486900" y="7327925"/>
            <a:ext cx="107959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7A50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● Зелёный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2444710" y="7316019"/>
            <a:ext cx="474481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7B8C82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Без отклонений — не требуют действий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1911697"/>
            <a:ext cx="3303612" cy="428625"/>
          </a:xfrm>
          <a:prstGeom prst="roundRect">
            <a:avLst>
              <a:gd name="adj" fmla="val 22222"/>
            </a:avLst>
          </a:prstGeom>
          <a:solidFill>
            <a:srgbClr val="E8F5F0"/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1987897"/>
            <a:ext cx="305982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Раздел 07 · Производство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568922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383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Решает доступ к данным, не цена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3722340"/>
            <a:ext cx="5219700" cy="3557588"/>
          </a:xfrm>
          <a:prstGeom prst="roundRect">
            <a:avLst>
              <a:gd name="adj" fmla="val 5355"/>
            </a:avLst>
          </a:prstGeom>
          <a:solidFill>
            <a:srgbClr val="0B3D2C"/>
          </a:solidFill>
          <a:ln/>
        </p:spPr>
      </p:sp>
      <p:sp>
        <p:nvSpPr>
          <p:cNvPr id="6" name="Text 4"/>
          <p:cNvSpPr/>
          <p:nvPr/>
        </p:nvSpPr>
        <p:spPr>
          <a:xfrm>
            <a:off x="1485900" y="4141440"/>
            <a:ext cx="477774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J-Style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485900" y="4636740"/>
            <a:ext cx="477774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Shenzhen Youhong Medical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85900" y="5160615"/>
            <a:ext cx="47777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2 000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1485900" y="5536853"/>
            <a:ext cx="47777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ISO 13485 · </a:t>
            </a:r>
            <a:pPr algn="l" indent="0" marL="0">
              <a:buNone/>
            </a:pPr>
            <a:r>
              <a:rPr lang="en-US" sz="1725" b="1" dirty="0">
                <a:solidFill>
                  <a:srgbClr val="3ECF8E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✓</a:t>
            </a:r>
            <a:endParaRPr lang="en-US" sz="1725" dirty="0"/>
          </a:p>
        </p:txBody>
      </p:sp>
      <p:sp>
        <p:nvSpPr>
          <p:cNvPr id="10" name="Text 8"/>
          <p:cNvSpPr/>
          <p:nvPr/>
        </p:nvSpPr>
        <p:spPr>
          <a:xfrm>
            <a:off x="1485900" y="5913090"/>
            <a:ext cx="47777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Полный доступ к данным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1485900" y="6403628"/>
            <a:ext cx="4343400" cy="457200"/>
          </a:xfrm>
          <a:prstGeom prst="roundRect">
            <a:avLst>
              <a:gd name="adj" fmla="val 20833"/>
            </a:avLst>
          </a:prstGeom>
          <a:solidFill>
            <a:srgbClr val="0E7A50"/>
          </a:solidFill>
          <a:ln/>
        </p:spPr>
      </p:sp>
      <p:sp>
        <p:nvSpPr>
          <p:cNvPr id="12" name="Text 10"/>
          <p:cNvSpPr/>
          <p:nvPr/>
        </p:nvSpPr>
        <p:spPr>
          <a:xfrm>
            <a:off x="1573149" y="6517928"/>
            <a:ext cx="416890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Готов к медицинской регистрации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34150" y="3722340"/>
            <a:ext cx="5219700" cy="3557588"/>
          </a:xfrm>
          <a:prstGeom prst="roundRect">
            <a:avLst>
              <a:gd name="adj" fmla="val 535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81825" y="4150965"/>
            <a:ext cx="475678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Eternity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981825" y="4646265"/>
            <a:ext cx="475678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Guangdong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981825" y="5170140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500</a:t>
            </a:r>
            <a:endParaRPr lang="en-US" sz="1725" dirty="0"/>
          </a:p>
        </p:txBody>
      </p:sp>
      <p:sp>
        <p:nvSpPr>
          <p:cNvPr id="17" name="Text 15"/>
          <p:cNvSpPr/>
          <p:nvPr/>
        </p:nvSpPr>
        <p:spPr>
          <a:xfrm>
            <a:off x="6981825" y="5546378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Система качества · не подтверждена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6981825" y="5922615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Самая низкая цена</a:t>
            </a:r>
            <a:endParaRPr lang="en-US" sz="1725" dirty="0"/>
          </a:p>
        </p:txBody>
      </p:sp>
      <p:sp>
        <p:nvSpPr>
          <p:cNvPr id="19" name="Shape 17"/>
          <p:cNvSpPr/>
          <p:nvPr/>
        </p:nvSpPr>
        <p:spPr>
          <a:xfrm>
            <a:off x="12020550" y="3722340"/>
            <a:ext cx="5219700" cy="3557588"/>
          </a:xfrm>
          <a:prstGeom prst="roundRect">
            <a:avLst>
              <a:gd name="adj" fmla="val 535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468225" y="4150965"/>
            <a:ext cx="475678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Wonlex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2468225" y="4855815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1 000</a:t>
            </a:r>
            <a:endParaRPr lang="en-US" sz="1725" dirty="0"/>
          </a:p>
        </p:txBody>
      </p:sp>
      <p:sp>
        <p:nvSpPr>
          <p:cNvPr id="22" name="Text 20"/>
          <p:cNvSpPr/>
          <p:nvPr/>
        </p:nvSpPr>
        <p:spPr>
          <a:xfrm>
            <a:off x="12468225" y="5232053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Лучшая начинка</a:t>
            </a:r>
            <a:endParaRPr lang="en-US" sz="1725" dirty="0"/>
          </a:p>
        </p:txBody>
      </p:sp>
      <p:sp>
        <p:nvSpPr>
          <p:cNvPr id="23" name="Text 21"/>
          <p:cNvSpPr/>
          <p:nvPr/>
        </p:nvSpPr>
        <p:spPr>
          <a:xfrm>
            <a:off x="12468225" y="5608290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Нет сертификатов</a:t>
            </a:r>
            <a:endParaRPr lang="en-US" sz="1725" dirty="0"/>
          </a:p>
        </p:txBody>
      </p:sp>
      <p:sp>
        <p:nvSpPr>
          <p:cNvPr id="24" name="Text 22"/>
          <p:cNvSpPr/>
          <p:nvPr/>
        </p:nvSpPr>
        <p:spPr>
          <a:xfrm>
            <a:off x="1047750" y="7660928"/>
            <a:ext cx="13906738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75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Ключевое условие контракта: устройство отдаёт данные напрямую в Damumed, без облака производителя. Образцы — 4–6 недель, серия — 8–12 недель после утверждения.</a:t>
            </a:r>
            <a:endParaRPr lang="en-US" sz="187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247528"/>
            <a:ext cx="3150468" cy="428625"/>
          </a:xfrm>
          <a:prstGeom prst="roundRect">
            <a:avLst>
              <a:gd name="adj" fmla="val 22222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2323728"/>
            <a:ext cx="290208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Раздел 08 · Регистрация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923803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383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Класс риска 2а · 14–18 месяцев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115321"/>
            <a:ext cx="356235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Мес 0–2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47750" y="4520133"/>
            <a:ext cx="35623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Завод и контракт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047750" y="4891608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6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образцы, проверка доступа к данным</a:t>
            </a:r>
            <a:endParaRPr lang="en-US" sz="1575" dirty="0"/>
          </a:p>
        </p:txBody>
      </p:sp>
      <p:sp>
        <p:nvSpPr>
          <p:cNvPr id="8" name="Text 6"/>
          <p:cNvSpPr/>
          <p:nvPr/>
        </p:nvSpPr>
        <p:spPr>
          <a:xfrm>
            <a:off x="4286250" y="4115321"/>
            <a:ext cx="356235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Мес 2–5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86250" y="4520133"/>
            <a:ext cx="35623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Первая партия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286250" y="4891608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6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серия, маркировка на двух языках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7524750" y="4115321"/>
            <a:ext cx="356235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Мес 3–9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24750" y="4520133"/>
            <a:ext cx="35623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Испытания и досье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524750" y="4891608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6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техиспытания, биосовместимость</a:t>
            </a:r>
            <a:endParaRPr lang="en-US" sz="1575" dirty="0"/>
          </a:p>
        </p:txBody>
      </p:sp>
      <p:sp>
        <p:nvSpPr>
          <p:cNvPr id="14" name="Text 12"/>
          <p:cNvSpPr/>
          <p:nvPr/>
        </p:nvSpPr>
        <p:spPr>
          <a:xfrm>
            <a:off x="10763250" y="4115321"/>
            <a:ext cx="356235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Мес 9–16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763250" y="4520133"/>
            <a:ext cx="35623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Экспертиза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0763250" y="4891608"/>
            <a:ext cx="3562350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6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норматив 90 дней по классу 2а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14001750" y="4115321"/>
            <a:ext cx="356235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Spline Sans Mono" pitchFamily="34" charset="0"/>
                <a:ea typeface="Spline Sans Mono" pitchFamily="34" charset="-122"/>
                <a:cs typeface="Spline Sans Mono" pitchFamily="34" charset="-120"/>
              </a:rPr>
              <a:t>Мес 14–18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001750" y="4520133"/>
            <a:ext cx="35623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Удостоверение и старт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001750" y="4891608"/>
            <a:ext cx="3562350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6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удостоверение бессрочно</a:t>
            </a:r>
            <a:endParaRPr lang="en-US" sz="1575" dirty="0"/>
          </a:p>
        </p:txBody>
      </p:sp>
      <p:sp>
        <p:nvSpPr>
          <p:cNvPr id="20" name="Shape 18"/>
          <p:cNvSpPr/>
          <p:nvPr/>
        </p:nvSpPr>
        <p:spPr>
          <a:xfrm>
            <a:off x="1047750" y="5775499"/>
            <a:ext cx="16192500" cy="381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ECF8E">
                  <a:alpha val="100000"/>
                </a:srgbClr>
              </a:gs>
              <a:gs pos="100000">
                <a:srgbClr val="1C6B4C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21" name="Shape 19"/>
          <p:cNvSpPr/>
          <p:nvPr/>
        </p:nvSpPr>
        <p:spPr>
          <a:xfrm>
            <a:off x="1047750" y="6346999"/>
            <a:ext cx="7943850" cy="1692473"/>
          </a:xfrm>
          <a:prstGeom prst="roundRect">
            <a:avLst>
              <a:gd name="adj" fmla="val 10130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38275" y="6680374"/>
            <a:ext cx="787908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FFF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Без ЭКГ в первой версии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1438275" y="7066136"/>
            <a:ext cx="787908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226"/>
              </a:lnSpc>
              <a:buNone/>
            </a:pPr>
            <a:r>
              <a:rPr lang="en-US" sz="1650" dirty="0">
                <a:solidFill>
                  <a:srgbClr val="CFE7D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ЭКГ поднимает класс до 2б и требует инспекции завода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9296400" y="6346999"/>
            <a:ext cx="7943850" cy="1692473"/>
          </a:xfrm>
          <a:prstGeom prst="roundRect">
            <a:avLst>
              <a:gd name="adj" fmla="val 10130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86925" y="6680374"/>
            <a:ext cx="787908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FFF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Искусственный интеллект — поэтапно</a:t>
            </a:r>
            <a:endParaRPr lang="en-US" sz="2025" dirty="0"/>
          </a:p>
        </p:txBody>
      </p:sp>
      <p:sp>
        <p:nvSpPr>
          <p:cNvPr id="26" name="Text 24"/>
          <p:cNvSpPr/>
          <p:nvPr/>
        </p:nvSpPr>
        <p:spPr>
          <a:xfrm>
            <a:off x="9686925" y="7066136"/>
            <a:ext cx="7377684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6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Первая версия — прозрачные правила (класс 2а); клинический ИИ выводим второй волной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1663303"/>
            <a:ext cx="2378050" cy="428625"/>
          </a:xfrm>
          <a:prstGeom prst="roundRect">
            <a:avLst>
              <a:gd name="adj" fmla="val 22222"/>
            </a:avLst>
          </a:prstGeom>
          <a:solidFill>
            <a:srgbClr val="E8F5F0"/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1739503"/>
            <a:ext cx="21113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Раздел 09 · Риски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320528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383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Каждый риск закрыт решением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3435846"/>
            <a:ext cx="16192500" cy="924818"/>
          </a:xfrm>
          <a:prstGeom prst="roundRect">
            <a:avLst>
              <a:gd name="adj" fmla="val 1647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38275" y="3731121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226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Завод не даёт доступ к данным или документацию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296400" y="3738265"/>
            <a:ext cx="830865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6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Проверка до предоплаты — условие контракта, а не пожелание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47750" y="4551164"/>
            <a:ext cx="16192500" cy="1230511"/>
          </a:xfrm>
          <a:prstGeom prst="roundRect">
            <a:avLst>
              <a:gd name="adj" fmla="val 1238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38275" y="4999286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226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Регистрация затянется дольше 18 месяцев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296400" y="4846439"/>
            <a:ext cx="77799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6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Завод с европейским сертификатом открывает ускоренную экспертизу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47750" y="5972175"/>
            <a:ext cx="16192500" cy="1230511"/>
          </a:xfrm>
          <a:prstGeom prst="roundRect">
            <a:avLst>
              <a:gd name="adj" fmla="val 1238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38275" y="6420296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226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Поликлиники не станут закупать браслеты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296400" y="6267450"/>
            <a:ext cx="77799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6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Наблюдение бесплатно; барьер железа снимает рассрочка 640 ₸/мес и обязанность по приказу ДСМ-39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47750" y="7393186"/>
            <a:ext cx="16192500" cy="1230511"/>
          </a:xfrm>
          <a:prstGeom prst="roundRect">
            <a:avLst>
              <a:gd name="adj" fmla="val 1238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38275" y="7841307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226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Закупочная цена окажется выше плана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296400" y="7688461"/>
            <a:ext cx="77799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6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Запас цены держит до $11,5; выше — розница 19 990 ₸, всё равно ниже Xiaomi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1569021"/>
            <a:ext cx="11568790" cy="26531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749"/>
              </a:lnSpc>
              <a:buNone/>
            </a:pPr>
            <a:r>
              <a:rPr lang="en-US" sz="6600" b="1" spc="-132" kern="0" dirty="0">
                <a:solidFill>
                  <a:srgbClr val="F2F7F4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Позиция, которую в Казахстане не занял никто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1047750" y="4850829"/>
            <a:ext cx="5015203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Первые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47750" y="5650929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носимое устройство со статусом медизделия на рынке РК</a:t>
            </a:r>
            <a:endParaRPr lang="en-US" sz="1875" dirty="0"/>
          </a:p>
        </p:txBody>
      </p:sp>
      <p:sp>
        <p:nvSpPr>
          <p:cNvPr id="5" name="Text 3"/>
          <p:cNvSpPr/>
          <p:nvPr/>
        </p:nvSpPr>
        <p:spPr>
          <a:xfrm>
            <a:off x="5911825" y="4850829"/>
            <a:ext cx="5015203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&lt; 2 лет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5911825" y="5650929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окупаемость первой партии от подписания контракта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10775900" y="4850829"/>
            <a:ext cx="5015203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Барьер</a:t>
            </a:r>
            <a:endParaRPr lang="en-US" sz="4500" dirty="0"/>
          </a:p>
        </p:txBody>
      </p:sp>
      <p:sp>
        <p:nvSpPr>
          <p:cNvPr id="8" name="Text 6"/>
          <p:cNvSpPr/>
          <p:nvPr/>
        </p:nvSpPr>
        <p:spPr>
          <a:xfrm>
            <a:off x="10775900" y="5650929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удостоверение и интеграция с МИС — 18 месяцев для любого конкурента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1047750" y="7079679"/>
            <a:ext cx="792093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047750" y="7432104"/>
            <a:ext cx="8158558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50" dirty="0">
                <a:solidFill>
                  <a:srgbClr val="8FBBA3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Damumed Band — медицинский надзор за цену, которая не требует раздумий, и повторная выручка, которая не заканчивается вместе с партией.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2026-08-31T18:51:34Z</dcterms:created>
  <dcterms:modified xsi:type="dcterms:W3CDTF">2026-08-31T18:51:34Z</dcterms:modified>
</cp:coreProperties>
</file>