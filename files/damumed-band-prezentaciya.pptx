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Первое носимое медизделие в Казахстане, дешевле массового фитнес-браслета.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Продаём не браслет, а медицинский надзор. Деньги — от мониторинга и подписок.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Приказ обязывает клиники применять носимые устройства с 1 сентября 2026 — а предложения на рынке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Без экрана: дешевле, дольше держит батарею, проще сертификация. Сменные ремешки под мужчин и женщин.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Аргумент, который конкурентам нечем перебить: медизделие дешевле обычного фитнес-браслета.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цены. Не зарабатываем на железе — зарабатываем на надзоре.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шаг вниз по цене оплачивается размером партии. Рекомендация — уровень I на 10 тыс или уровень II на 20 тыс.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Себестоимость 4 026 ₸. Вложения помимо партии — только регистрация и образцы.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15 месяцев — вложения без выручки. Выход в ноль — 21-й месяц.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группы: браслет даёт осмысленный сигнал и группа велика.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Браслет без экрана — продукт живёт в приложении. Личный коридор, три уровня раскрытия, честная калибровка.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 — не добавить врачу работы. Зелёные не отвлекают, красные всплывают с готовым контекстом.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Решает не цена, а доступ к данным и система качества. J-Style — единственный готовый к регистрации.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Класс 2а, национальная процедура, держатель — Damumed. Без ЭКГ и без ИИ, чтобы не поднять класс.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риск снимается конкретным решением до предоплаты или пилотом.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Единственное носимое медизделие в РК, встроенное в медкарту и рабочее место врача, дешевле фитнес-браслета.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7250" y="1133475"/>
            <a:ext cx="104775" cy="104775"/>
          </a:xfrm>
          <a:prstGeom prst="ellipse">
            <a:avLst/>
          </a:prstGeom>
          <a:solidFill>
            <a:srgbClr val="3ECF8E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76325" y="1047750"/>
            <a:ext cx="424184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" kern="0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Аналитический отчёт · август 2026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57250" y="2434754"/>
            <a:ext cx="8123224" cy="24276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333"/>
              </a:lnSpc>
              <a:buNone/>
            </a:pPr>
            <a:r>
              <a:rPr lang="en-US" sz="9600" b="1" spc="-288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Damumed Band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857250" y="5129138"/>
            <a:ext cx="4549812" cy="14467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410"/>
              </a:lnSpc>
              <a:buNone/>
            </a:pPr>
            <a:r>
              <a:rPr lang="en-US" sz="2550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Браслет для контроля здоровья под собственным брендом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857250" y="7648575"/>
            <a:ext cx="4680570" cy="9525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57250" y="7943850"/>
            <a:ext cx="4820987" cy="152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Медицинское изделие дешевле массового фитнес-трекера — производство, регистрация и экономика первой партии</a:t>
            </a:r>
            <a:endParaRPr lang="en-US" sz="19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15468" r="15468" t="0" b="0"/>
          <a:stretch/>
        </p:blipFill>
        <p:spPr>
          <a:xfrm>
            <a:off x="9601126" y="0"/>
            <a:ext cx="86868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079427"/>
            <a:ext cx="2573313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155627"/>
            <a:ext cx="230761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01 · Идея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741414"/>
            <a:ext cx="7946708" cy="14370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154"/>
              </a:lnSpc>
              <a:buNone/>
            </a:pPr>
            <a:r>
              <a:rPr lang="en-US" sz="5100" b="1" spc="-102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Продаём не браслет, а дистанционное наблюдение врача</a:t>
            </a:r>
            <a:endParaRPr lang="en-US" sz="5100" dirty="0"/>
          </a:p>
        </p:txBody>
      </p:sp>
      <p:sp>
        <p:nvSpPr>
          <p:cNvPr id="5" name="Text 3"/>
          <p:cNvSpPr/>
          <p:nvPr/>
        </p:nvSpPr>
        <p:spPr>
          <a:xfrm>
            <a:off x="1047750" y="4464248"/>
            <a:ext cx="5839312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435"/>
              </a:lnSpc>
              <a:buNone/>
            </a:pPr>
            <a:r>
              <a:rPr lang="en-US" sz="225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Устройство идёт с минимальной наценкой. Деньги приходят от мониторинга и подписок, а не от железа.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1047750" y="6674048"/>
            <a:ext cx="114300" cy="114300"/>
          </a:xfrm>
          <a:prstGeom prst="ellipse">
            <a:avLst/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314450" y="6559748"/>
            <a:ext cx="780573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Контрактное производство браслета без экрана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1047750" y="7159823"/>
            <a:ext cx="114300" cy="114300"/>
          </a:xfrm>
          <a:prstGeom prst="ellipse">
            <a:avLst/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14450" y="7045523"/>
            <a:ext cx="7672007" cy="714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Регистрируем как </a:t>
            </a:r>
            <a:pPr algn="l" indent="0" marL="0">
              <a:lnSpc>
                <a:spcPct val="120690"/>
              </a:lnSpc>
              <a:buNone/>
            </a:pPr>
            <a:r>
              <a:rPr lang="en-US" sz="1875" b="1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медицинское изделие </a:t>
            </a:r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держатель — Damumed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1047750" y="7988498"/>
            <a:ext cx="114300" cy="114300"/>
          </a:xfrm>
          <a:prstGeom prst="ellipse">
            <a:avLst/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314450" y="7874198"/>
            <a:ext cx="818816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идут в приложение Damumed и на панель врача в МИС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9525000" y="1238250"/>
            <a:ext cx="7715250" cy="7810500"/>
          </a:xfrm>
          <a:prstGeom prst="roundRect">
            <a:avLst>
              <a:gd name="adj" fmla="val 2963"/>
            </a:avLst>
          </a:prstGeom>
          <a:ln/>
          <a:effectLst>
            <a:outerShdw sx="100000" sy="100000" kx="0" ky="0" algn="bl" rotWithShape="0" blurRad="666750" dist="285750" dir="5400000">
              <a:srgbClr val="0B3D2C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rcRect l="23082" r="23082" t="0" b="0"/>
          <a:stretch/>
        </p:blipFill>
        <p:spPr>
          <a:xfrm>
            <a:off x="9525000" y="1238250"/>
            <a:ext cx="7715250" cy="7810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162994"/>
            <a:ext cx="1942802" cy="414338"/>
          </a:xfrm>
          <a:prstGeom prst="roundRect">
            <a:avLst>
              <a:gd name="adj" fmla="val 22988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239194"/>
            <a:ext cx="167610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863081"/>
            <a:ext cx="11632714" cy="1693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2468"/>
              </a:lnSpc>
              <a:buNone/>
            </a:pPr>
            <a:r>
              <a:rPr lang="en-US" sz="6150" b="1" spc="-123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Норма вступает в силу — предложения на рынке нет</a:t>
            </a:r>
            <a:endParaRPr lang="en-US" sz="6150" dirty="0"/>
          </a:p>
        </p:txBody>
      </p:sp>
      <p:sp>
        <p:nvSpPr>
          <p:cNvPr id="5" name="Shape 3"/>
          <p:cNvSpPr/>
          <p:nvPr/>
        </p:nvSpPr>
        <p:spPr>
          <a:xfrm>
            <a:off x="1047750" y="5128394"/>
            <a:ext cx="7943850" cy="2995613"/>
          </a:xfrm>
          <a:prstGeom prst="roundRect">
            <a:avLst>
              <a:gd name="adj" fmla="val 6359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95425" y="5557019"/>
            <a:ext cx="7753350" cy="5000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Приказ № ҚР ДСМ-39</a:t>
            </a:r>
            <a:endParaRPr lang="en-US" sz="3150" dirty="0"/>
          </a:p>
        </p:txBody>
      </p:sp>
      <p:sp>
        <p:nvSpPr>
          <p:cNvPr id="7" name="Text 5"/>
          <p:cNvSpPr/>
          <p:nvPr/>
        </p:nvSpPr>
        <p:spPr>
          <a:xfrm>
            <a:off x="1495425" y="6152331"/>
            <a:ext cx="7259955" cy="1195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1 сентября 2026 года медорганизации обязаны применять носимые устройства и передавать показатели в цифровые системы.</a:t>
            </a:r>
            <a:endParaRPr lang="en-US" sz="2025" dirty="0"/>
          </a:p>
        </p:txBody>
      </p:sp>
      <p:sp>
        <p:nvSpPr>
          <p:cNvPr id="8" name="Shape 6"/>
          <p:cNvSpPr/>
          <p:nvPr/>
        </p:nvSpPr>
        <p:spPr>
          <a:xfrm>
            <a:off x="9296400" y="5128394"/>
            <a:ext cx="7943850" cy="2995613"/>
          </a:xfrm>
          <a:prstGeom prst="roundRect">
            <a:avLst>
              <a:gd name="adj" fmla="val 6359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744075" y="5557019"/>
            <a:ext cx="7753350" cy="5000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1 млн пациентов</a:t>
            </a:r>
            <a:endParaRPr lang="en-US" sz="3150" dirty="0"/>
          </a:p>
        </p:txBody>
      </p:sp>
      <p:sp>
        <p:nvSpPr>
          <p:cNvPr id="10" name="Text 8"/>
          <p:cNvSpPr/>
          <p:nvPr/>
        </p:nvSpPr>
        <p:spPr>
          <a:xfrm>
            <a:off x="9744075" y="6152331"/>
            <a:ext cx="7259955" cy="158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Программа управления заболеваниями покрывает наши диагнозы — гипертонию, диабет 2 типа, сердечную недостаточность. Носимых медизделий на рынке РК сегодня нет.</a:t>
            </a:r>
            <a:endParaRPr lang="en-US" sz="20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952500"/>
            <a:ext cx="1538808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1028700"/>
            <a:ext cx="1272108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Устройство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1595438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Корпус без экрана, сменный ремешок</a:t>
            </a:r>
            <a:endParaRPr lang="en-US" sz="46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6400" r="6400" t="0" b="0"/>
          <a:stretch/>
        </p:blipFill>
        <p:spPr>
          <a:xfrm>
            <a:off x="1047750" y="2634555"/>
            <a:ext cx="7924800" cy="4953000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rcRect l="6400" r="6400" t="0" b="0"/>
          <a:stretch/>
        </p:blipFill>
        <p:spPr>
          <a:xfrm>
            <a:off x="9315450" y="2634555"/>
            <a:ext cx="7924800" cy="4953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047750" y="7930455"/>
            <a:ext cx="3876675" cy="1208708"/>
          </a:xfrm>
          <a:prstGeom prst="roundRect">
            <a:avLst>
              <a:gd name="adj" fmla="val 1260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1323975" y="8187630"/>
            <a:ext cx="365664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Пульс · ВСР</a:t>
            </a:r>
            <a:endParaRPr lang="en-US" sz="2250" dirty="0"/>
          </a:p>
        </p:txBody>
      </p:sp>
      <p:sp>
        <p:nvSpPr>
          <p:cNvPr id="9" name="Text 5"/>
          <p:cNvSpPr/>
          <p:nvPr/>
        </p:nvSpPr>
        <p:spPr>
          <a:xfrm>
            <a:off x="1323975" y="8573393"/>
            <a:ext cx="365664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оптические датчики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5153025" y="7930455"/>
            <a:ext cx="3876675" cy="1208708"/>
          </a:xfrm>
          <a:prstGeom prst="roundRect">
            <a:avLst>
              <a:gd name="adj" fmla="val 1260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5429250" y="8187630"/>
            <a:ext cx="365664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SpO₂ · темп.</a:t>
            </a:r>
            <a:endParaRPr lang="en-US" sz="2250" dirty="0"/>
          </a:p>
        </p:txBody>
      </p:sp>
      <p:sp>
        <p:nvSpPr>
          <p:cNvPr id="12" name="Text 8"/>
          <p:cNvSpPr/>
          <p:nvPr/>
        </p:nvSpPr>
        <p:spPr>
          <a:xfrm>
            <a:off x="5429250" y="8573393"/>
            <a:ext cx="365664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кислород и кожа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9258300" y="7930455"/>
            <a:ext cx="3876675" cy="1208708"/>
          </a:xfrm>
          <a:prstGeom prst="roundRect">
            <a:avLst>
              <a:gd name="adj" fmla="val 1260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9534525" y="8187630"/>
            <a:ext cx="365664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IP68</a:t>
            </a:r>
            <a:endParaRPr lang="en-US" sz="2250" dirty="0"/>
          </a:p>
        </p:txBody>
      </p:sp>
      <p:sp>
        <p:nvSpPr>
          <p:cNvPr id="15" name="Text 11"/>
          <p:cNvSpPr/>
          <p:nvPr/>
        </p:nvSpPr>
        <p:spPr>
          <a:xfrm>
            <a:off x="9534525" y="8573393"/>
            <a:ext cx="365664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батарея 5–7 дней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13363575" y="7930455"/>
            <a:ext cx="3876675" cy="1208708"/>
          </a:xfrm>
          <a:prstGeom prst="roundRect">
            <a:avLst>
              <a:gd name="adj" fmla="val 1260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13639800" y="8187630"/>
            <a:ext cx="365664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25 г</a:t>
            </a:r>
            <a:endParaRPr lang="en-US" sz="2250" dirty="0"/>
          </a:p>
        </p:txBody>
      </p:sp>
      <p:sp>
        <p:nvSpPr>
          <p:cNvPr id="18" name="Text 14"/>
          <p:cNvSpPr/>
          <p:nvPr/>
        </p:nvSpPr>
        <p:spPr>
          <a:xfrm>
            <a:off x="13639800" y="8573393"/>
            <a:ext cx="365664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алюминий, 40 мм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013645"/>
            <a:ext cx="2169021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089845"/>
            <a:ext cx="190232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02 · Цена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656582"/>
            <a:ext cx="8118932" cy="12781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Медизделие дешевле фитнес-браслета</a:t>
            </a:r>
            <a:endParaRPr lang="en-US" sz="4650" dirty="0"/>
          </a:p>
        </p:txBody>
      </p:sp>
      <p:sp>
        <p:nvSpPr>
          <p:cNvPr id="5" name="Text 3"/>
          <p:cNvSpPr/>
          <p:nvPr/>
        </p:nvSpPr>
        <p:spPr>
          <a:xfrm>
            <a:off x="1047750" y="4522887"/>
            <a:ext cx="37719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B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Damumed Band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705350" y="4430018"/>
            <a:ext cx="2564829" cy="495300"/>
          </a:xfrm>
          <a:prstGeom prst="roundRect">
            <a:avLst>
              <a:gd name="adj" fmla="val 19231"/>
            </a:avLst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2477750" y="4503837"/>
            <a:ext cx="2095500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14 990 ₸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047750" y="5203924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Huawei Band 10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4705350" y="5115818"/>
            <a:ext cx="2866579" cy="495300"/>
          </a:xfrm>
          <a:prstGeom prst="roundRect">
            <a:avLst>
              <a:gd name="adj" fmla="val 19231"/>
            </a:avLst>
          </a:prstGeom>
          <a:solidFill>
            <a:srgbClr val="CBD8D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2477750" y="5192018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16 890 ₸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047750" y="5889724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Xiaomi Smart Band 10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705350" y="5801618"/>
            <a:ext cx="3771900" cy="495300"/>
          </a:xfrm>
          <a:prstGeom prst="roundRect">
            <a:avLst>
              <a:gd name="adj" fmla="val 19231"/>
            </a:avLst>
          </a:prstGeom>
          <a:solidFill>
            <a:srgbClr val="CBD8D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2477750" y="5877818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21 989 ₸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047750" y="6575524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Galaxy Fit3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4705350" y="6487418"/>
            <a:ext cx="3847281" cy="495300"/>
          </a:xfrm>
          <a:prstGeom prst="roundRect">
            <a:avLst>
              <a:gd name="adj" fmla="val 19231"/>
            </a:avLst>
          </a:prstGeom>
          <a:solidFill>
            <a:srgbClr val="CBD8D0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2477750" y="6563618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22 299 ₸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047750" y="7261324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Honor Band 9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4705350" y="7173218"/>
            <a:ext cx="5959599" cy="495300"/>
          </a:xfrm>
          <a:prstGeom prst="roundRect">
            <a:avLst>
              <a:gd name="adj" fmla="val 19231"/>
            </a:avLst>
          </a:prstGeom>
          <a:solidFill>
            <a:srgbClr val="CBD8D0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2477750" y="7249418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34 880 ₸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047750" y="8011418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Розничные цены, Kaspi, проверено 31 августа 2026 · на треть ниже Xiaomi Band 10</a:t>
            </a:r>
            <a:endParaRPr lang="en-US" sz="17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2223641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цены, ни одной случайной</a:t>
            </a:r>
            <a:endParaRPr lang="en-US" sz="4650" dirty="0"/>
          </a:p>
        </p:txBody>
      </p:sp>
      <p:sp>
        <p:nvSpPr>
          <p:cNvPr id="3" name="Shape 1"/>
          <p:cNvSpPr/>
          <p:nvPr/>
        </p:nvSpPr>
        <p:spPr>
          <a:xfrm>
            <a:off x="1047750" y="3377059"/>
            <a:ext cx="7943850" cy="2190750"/>
          </a:xfrm>
          <a:prstGeom prst="roundRect">
            <a:avLst>
              <a:gd name="adj" fmla="val 869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476375" y="3767584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Браслет в рознице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76375" y="4158109"/>
            <a:ext cx="7795260" cy="700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14 990 ₸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476375" y="4915346"/>
            <a:ext cx="779526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рассрочку на год — 1 250 ₸/мес</a:t>
            </a:r>
            <a:endParaRPr lang="en-US" sz="1725" dirty="0"/>
          </a:p>
        </p:txBody>
      </p:sp>
      <p:sp>
        <p:nvSpPr>
          <p:cNvPr id="7" name="Shape 5"/>
          <p:cNvSpPr/>
          <p:nvPr/>
        </p:nvSpPr>
        <p:spPr>
          <a:xfrm>
            <a:off x="9296400" y="3377059"/>
            <a:ext cx="7943850" cy="2190750"/>
          </a:xfrm>
          <a:prstGeom prst="roundRect">
            <a:avLst>
              <a:gd name="adj" fmla="val 869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725025" y="3767584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Подписка в приложении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725025" y="4158109"/>
            <a:ext cx="7795260" cy="700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690 ₸</a:t>
            </a:r>
            <a:pPr algn="l" indent="0" marL="0">
              <a:buNone/>
            </a:pPr>
            <a:r>
              <a:rPr lang="en-US" sz="24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/мес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9725025" y="4915346"/>
            <a:ext cx="779526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ниже любой психологической планки</a:t>
            </a:r>
            <a:endParaRPr lang="en-US" sz="1725" dirty="0"/>
          </a:p>
        </p:txBody>
      </p:sp>
      <p:sp>
        <p:nvSpPr>
          <p:cNvPr id="11" name="Shape 9"/>
          <p:cNvSpPr/>
          <p:nvPr/>
        </p:nvSpPr>
        <p:spPr>
          <a:xfrm>
            <a:off x="1047750" y="5872609"/>
            <a:ext cx="7943850" cy="2190750"/>
          </a:xfrm>
          <a:prstGeom prst="roundRect">
            <a:avLst>
              <a:gd name="adj" fmla="val 869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476375" y="6263134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Браслет поликлинике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76375" y="6653659"/>
            <a:ext cx="7795260" cy="700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6 900 ₸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476375" y="7410896"/>
            <a:ext cx="779526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оснащение участка без сложных процедур</a:t>
            </a:r>
            <a:endParaRPr lang="en-US" sz="1725" dirty="0"/>
          </a:p>
        </p:txBody>
      </p:sp>
      <p:sp>
        <p:nvSpPr>
          <p:cNvPr id="15" name="Shape 13"/>
          <p:cNvSpPr/>
          <p:nvPr/>
        </p:nvSpPr>
        <p:spPr>
          <a:xfrm>
            <a:off x="9296400" y="5872609"/>
            <a:ext cx="7943850" cy="2190750"/>
          </a:xfrm>
          <a:prstGeom prst="roundRect">
            <a:avLst>
              <a:gd name="adj" fmla="val 869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725025" y="6263134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Модуль наблюдения — в аренде МИС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725025" y="6653659"/>
            <a:ext cx="7795260" cy="700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₸</a:t>
            </a:r>
            <a:pPr algn="l" indent="0" marL="0">
              <a:buNone/>
            </a:pPr>
            <a:r>
              <a:rPr lang="en-US" sz="24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/пациент/мес</a:t>
            </a:r>
            <a:endParaRPr lang="en-US" sz="4500" dirty="0"/>
          </a:p>
        </p:txBody>
      </p:sp>
      <p:sp>
        <p:nvSpPr>
          <p:cNvPr id="18" name="Text 16"/>
          <p:cNvSpPr/>
          <p:nvPr/>
        </p:nvSpPr>
        <p:spPr>
          <a:xfrm>
            <a:off x="9725025" y="7410896"/>
            <a:ext cx="779526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менее трети подушевого норматива</a:t>
            </a:r>
            <a:endParaRPr lang="en-US" sz="17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088803"/>
            <a:ext cx="3774504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165003"/>
            <a:ext cx="354484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03 · Три ценовых уровня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731740"/>
            <a:ext cx="17811750" cy="618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896"/>
              </a:lnSpc>
              <a:buNone/>
            </a:pPr>
            <a:r>
              <a:rPr lang="en-US" sz="4350" b="1" spc="-87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Цену вниз оплачивает размер партии</a:t>
            </a:r>
            <a:endParaRPr lang="en-US" sz="4350" dirty="0"/>
          </a:p>
        </p:txBody>
      </p:sp>
      <p:sp>
        <p:nvSpPr>
          <p:cNvPr id="5" name="Shape 3"/>
          <p:cNvSpPr/>
          <p:nvPr/>
        </p:nvSpPr>
        <p:spPr>
          <a:xfrm>
            <a:off x="1047750" y="3768998"/>
            <a:ext cx="16192500" cy="3400425"/>
          </a:xfrm>
          <a:prstGeom prst="roundRect">
            <a:avLst>
              <a:gd name="adj" fmla="val 5602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57275" y="3778523"/>
            <a:ext cx="16173450" cy="719138"/>
          </a:xfrm>
          <a:prstGeom prst="rect">
            <a:avLst/>
          </a:prstGeom>
          <a:solidFill>
            <a:srgbClr val="0B3D2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362075" y="4007123"/>
            <a:ext cx="347642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Уровень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214789" y="4007123"/>
            <a:ext cx="276219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Розница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66435" y="4007123"/>
            <a:ext cx="276211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Поликлинике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318007" y="4007123"/>
            <a:ext cx="276211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Партия 10 тыс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369579" y="4007123"/>
            <a:ext cx="276211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Партия 20 тыс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57275" y="4497660"/>
            <a:ext cx="16173450" cy="890588"/>
          </a:xfrm>
          <a:prstGeom prst="rect">
            <a:avLst/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057275" y="5378723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362075" y="4783410"/>
            <a:ext cx="347642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B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I. Базовый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5214789" y="4783410"/>
            <a:ext cx="276219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14 990 ₸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8266435" y="4783410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6 900 ₸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1318007" y="4783410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+20,0 млн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4369579" y="4783410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+93,9 млн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057275" y="6269310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362075" y="5673998"/>
            <a:ext cx="347642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II. Массовый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5214789" y="5673998"/>
            <a:ext cx="276219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11 990 ₸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8266435" y="5673998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5 500 ₸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1318007" y="5673998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C045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+1,2 млн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4369579" y="5673998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+56,3 млн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362075" y="6564585"/>
            <a:ext cx="347642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III. Доступный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5214789" y="6564585"/>
            <a:ext cx="276219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9 990 ₸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8266435" y="6564585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4 500 ₸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1318007" y="6564585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C045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−11,7 млн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14369579" y="6564585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+30,7 млн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1047750" y="7474223"/>
            <a:ext cx="12361545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310"/>
              </a:lnSpc>
              <a:buNone/>
            </a:pPr>
            <a:r>
              <a:rPr lang="en-US" sz="1875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Рекомендация: </a:t>
            </a:r>
            <a:pPr algn="l" indent="0" marL="0">
              <a:lnSpc>
                <a:spcPct val="129310"/>
              </a:lnSpc>
              <a:buNone/>
            </a:pPr>
            <a:r>
              <a:rPr lang="en-US" sz="187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уровень I на партии 10 000 — осторожный вход, либо уровень II на партии 20 000 — ставка на охват.</a:t>
            </a:r>
            <a:endParaRPr lang="en-US" sz="187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249835"/>
            <a:ext cx="2783830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326035"/>
            <a:ext cx="252444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04 · Экономика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892772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Низкая цена — потому что софт свой</a:t>
            </a:r>
            <a:endParaRPr lang="en-US" sz="4650" dirty="0"/>
          </a:p>
        </p:txBody>
      </p:sp>
      <p:sp>
        <p:nvSpPr>
          <p:cNvPr id="5" name="Shape 3"/>
          <p:cNvSpPr/>
          <p:nvPr/>
        </p:nvSpPr>
        <p:spPr>
          <a:xfrm>
            <a:off x="1047750" y="4046190"/>
            <a:ext cx="3848100" cy="2081212"/>
          </a:xfrm>
          <a:prstGeom prst="roundRect">
            <a:avLst>
              <a:gd name="adj" fmla="val 8238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00175" y="4417665"/>
            <a:ext cx="345757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Себестоимость на складе</a:t>
            </a:r>
            <a:endParaRPr lang="en-US" sz="1725" dirty="0"/>
          </a:p>
        </p:txBody>
      </p:sp>
      <p:sp>
        <p:nvSpPr>
          <p:cNvPr id="7" name="Text 5"/>
          <p:cNvSpPr/>
          <p:nvPr/>
        </p:nvSpPr>
        <p:spPr>
          <a:xfrm>
            <a:off x="1400175" y="4812953"/>
            <a:ext cx="3457575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4 026 ₸</a:t>
            </a:r>
            <a:endParaRPr lang="en-US" sz="4350" dirty="0"/>
          </a:p>
        </p:txBody>
      </p:sp>
      <p:sp>
        <p:nvSpPr>
          <p:cNvPr id="8" name="Shape 6"/>
          <p:cNvSpPr/>
          <p:nvPr/>
        </p:nvSpPr>
        <p:spPr>
          <a:xfrm>
            <a:off x="5162550" y="4046190"/>
            <a:ext cx="3848100" cy="2081212"/>
          </a:xfrm>
          <a:prstGeom prst="roundRect">
            <a:avLst>
              <a:gd name="adj" fmla="val 8238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514975" y="4417665"/>
            <a:ext cx="345757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Вложения</a:t>
            </a:r>
            <a:endParaRPr lang="en-US" sz="1725" dirty="0"/>
          </a:p>
        </p:txBody>
      </p:sp>
      <p:sp>
        <p:nvSpPr>
          <p:cNvPr id="10" name="Text 8"/>
          <p:cNvSpPr/>
          <p:nvPr/>
        </p:nvSpPr>
        <p:spPr>
          <a:xfrm>
            <a:off x="5514975" y="4812953"/>
            <a:ext cx="3457575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 </a:t>
            </a:r>
            <a:pPr algn="l" indent="0" marL="0">
              <a:buNone/>
            </a:pPr>
            <a:r>
              <a:rPr lang="en-US" sz="24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млн ₸</a:t>
            </a:r>
            <a:endParaRPr lang="en-US" sz="4350" dirty="0"/>
          </a:p>
        </p:txBody>
      </p:sp>
      <p:sp>
        <p:nvSpPr>
          <p:cNvPr id="11" name="Text 9"/>
          <p:cNvSpPr/>
          <p:nvPr/>
        </p:nvSpPr>
        <p:spPr>
          <a:xfrm>
            <a:off x="5514975" y="5527328"/>
            <a:ext cx="34575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партия 40 + регистрация 18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277350" y="4046190"/>
            <a:ext cx="3848100" cy="2081212"/>
          </a:xfrm>
          <a:prstGeom prst="roundRect">
            <a:avLst>
              <a:gd name="adj" fmla="val 8238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629775" y="4417665"/>
            <a:ext cx="345757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Маржа в рознице</a:t>
            </a:r>
            <a:endParaRPr lang="en-US" sz="1725" dirty="0"/>
          </a:p>
        </p:txBody>
      </p:sp>
      <p:sp>
        <p:nvSpPr>
          <p:cNvPr id="14" name="Text 12"/>
          <p:cNvSpPr/>
          <p:nvPr/>
        </p:nvSpPr>
        <p:spPr>
          <a:xfrm>
            <a:off x="9629775" y="4812953"/>
            <a:ext cx="3457575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8 900 ₸</a:t>
            </a:r>
            <a:endParaRPr lang="en-US" sz="4350" dirty="0"/>
          </a:p>
        </p:txBody>
      </p:sp>
      <p:sp>
        <p:nvSpPr>
          <p:cNvPr id="15" name="Text 13"/>
          <p:cNvSpPr/>
          <p:nvPr/>
        </p:nvSpPr>
        <p:spPr>
          <a:xfrm>
            <a:off x="9629775" y="5527328"/>
            <a:ext cx="34575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вычетом комиссии Kaspi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3392150" y="4046190"/>
            <a:ext cx="3848100" cy="2081212"/>
          </a:xfrm>
          <a:prstGeom prst="roundRect">
            <a:avLst>
              <a:gd name="adj" fmla="val 8238"/>
            </a:avLst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3735050" y="4408140"/>
            <a:ext cx="347853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Выручка сервиса</a:t>
            </a:r>
            <a:endParaRPr lang="en-US" sz="1725" dirty="0"/>
          </a:p>
        </p:txBody>
      </p:sp>
      <p:sp>
        <p:nvSpPr>
          <p:cNvPr id="18" name="Text 16"/>
          <p:cNvSpPr/>
          <p:nvPr/>
        </p:nvSpPr>
        <p:spPr>
          <a:xfrm>
            <a:off x="13735050" y="4803428"/>
            <a:ext cx="3478530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4 </a:t>
            </a:r>
            <a:pPr algn="l" indent="0" marL="0">
              <a:buNone/>
            </a:pPr>
            <a:r>
              <a:rPr lang="en-US" sz="24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млн ₸/мес</a:t>
            </a:r>
            <a:endParaRPr lang="en-US" sz="4350" dirty="0"/>
          </a:p>
        </p:txBody>
      </p:sp>
      <p:sp>
        <p:nvSpPr>
          <p:cNvPr id="19" name="Text 17"/>
          <p:cNvSpPr/>
          <p:nvPr/>
        </p:nvSpPr>
        <p:spPr>
          <a:xfrm>
            <a:off x="13735050" y="5517803"/>
            <a:ext cx="347853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заканчивается с партией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1047750" y="6546503"/>
            <a:ext cx="16192500" cy="108585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438275" y="6941790"/>
            <a:ext cx="312908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0B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Себестоимость 4 026 ₸:</a:t>
            </a:r>
            <a:endParaRPr lang="en-US" sz="2025" dirty="0"/>
          </a:p>
        </p:txBody>
      </p:sp>
      <p:sp>
        <p:nvSpPr>
          <p:cNvPr id="22" name="Shape 20"/>
          <p:cNvSpPr/>
          <p:nvPr/>
        </p:nvSpPr>
        <p:spPr>
          <a:xfrm>
            <a:off x="4435301" y="6879878"/>
            <a:ext cx="10333137" cy="419100"/>
          </a:xfrm>
          <a:prstGeom prst="rect">
            <a:avLst/>
          </a:prstGeom>
          <a:solidFill>
            <a:srgbClr val="0B3D2C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606751" y="6879878"/>
            <a:ext cx="10471681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$7,5 — 3 488 ₸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4768438" y="6879878"/>
            <a:ext cx="857027" cy="419100"/>
          </a:xfrm>
          <a:prstGeom prst="rect">
            <a:avLst/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5625465" y="6879878"/>
            <a:ext cx="612130" cy="419100"/>
          </a:xfrm>
          <a:prstGeom prst="rect">
            <a:avLst/>
          </a:prstGeom>
          <a:solidFill>
            <a:srgbClr val="3AAF7C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16237595" y="6879878"/>
            <a:ext cx="612130" cy="419100"/>
          </a:xfrm>
          <a:prstGeom prst="rect">
            <a:avLst/>
          </a:prstGeom>
          <a:solidFill>
            <a:srgbClr val="A9D9C0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047750" y="7784753"/>
            <a:ext cx="178117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· упаковка 279 ₸ · логистика 186 ₸ · пошлина 73 ₸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1658317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Деньги во времени</a:t>
            </a:r>
            <a:endParaRPr lang="en-US" sz="4650" dirty="0"/>
          </a:p>
        </p:txBody>
      </p:sp>
      <p:sp>
        <p:nvSpPr>
          <p:cNvPr id="3" name="Shape 1"/>
          <p:cNvSpPr/>
          <p:nvPr/>
        </p:nvSpPr>
        <p:spPr>
          <a:xfrm>
            <a:off x="1047750" y="2811735"/>
            <a:ext cx="5194250" cy="2864123"/>
          </a:xfrm>
          <a:prstGeom prst="roundRect">
            <a:avLst>
              <a:gd name="adj" fmla="val 6651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495425" y="3240360"/>
            <a:ext cx="4728790" cy="871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7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мес</a:t>
            </a:r>
            <a:endParaRPr lang="en-US" sz="5700" dirty="0"/>
          </a:p>
        </p:txBody>
      </p:sp>
      <p:sp>
        <p:nvSpPr>
          <p:cNvPr id="5" name="Text 3"/>
          <p:cNvSpPr/>
          <p:nvPr/>
        </p:nvSpPr>
        <p:spPr>
          <a:xfrm>
            <a:off x="1495425" y="4207148"/>
            <a:ext cx="4427867" cy="10781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вложения без выручки: производство, регистрация, разработка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6546800" y="2811735"/>
            <a:ext cx="5194325" cy="2864123"/>
          </a:xfrm>
          <a:prstGeom prst="roundRect">
            <a:avLst>
              <a:gd name="adj" fmla="val 6651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994475" y="3240360"/>
            <a:ext cx="4728872" cy="871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7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мес</a:t>
            </a:r>
            <a:endParaRPr lang="en-US" sz="5700" dirty="0"/>
          </a:p>
        </p:txBody>
      </p:sp>
      <p:sp>
        <p:nvSpPr>
          <p:cNvPr id="8" name="Text 6"/>
          <p:cNvSpPr/>
          <p:nvPr/>
        </p:nvSpPr>
        <p:spPr>
          <a:xfrm>
            <a:off x="6994475" y="4207148"/>
            <a:ext cx="4427944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выход в ноль от подписания контракта с заводом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2045925" y="2811735"/>
            <a:ext cx="5194250" cy="2864123"/>
          </a:xfrm>
          <a:prstGeom prst="roundRect">
            <a:avLst>
              <a:gd name="adj" fmla="val 6651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2493600" y="3240360"/>
            <a:ext cx="4728790" cy="871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7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 млн</a:t>
            </a:r>
            <a:endParaRPr lang="en-US" sz="5700" dirty="0"/>
          </a:p>
        </p:txBody>
      </p:sp>
      <p:sp>
        <p:nvSpPr>
          <p:cNvPr id="11" name="Text 9"/>
          <p:cNvSpPr/>
          <p:nvPr/>
        </p:nvSpPr>
        <p:spPr>
          <a:xfrm>
            <a:off x="12493600" y="4207148"/>
            <a:ext cx="4427867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 к 24 мес · при партии 20 тыс — +94 млн ₸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047750" y="8247608"/>
            <a:ext cx="16192500" cy="1905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047750" y="7947571"/>
            <a:ext cx="1026096" cy="300038"/>
          </a:xfrm>
          <a:custGeom>
            <a:avLst/>
            <a:gdLst/>
            <a:ahLst/>
            <a:cxnLst/>
            <a:rect l="l" t="t" r="r" b="b"/>
            <a:pathLst>
              <a:path w="1026096" h="300038">
                <a:moveTo>
                  <a:pt x="57150" y="0"/>
                </a:moveTo>
                <a:lnTo>
                  <a:pt x="968946" y="0"/>
                </a:lnTo>
                <a:arcTo hR="57150" wR="57150" stAng="16200000" swAng="5400000"/>
                <a:lnTo>
                  <a:pt x="1026096" y="300038"/>
                </a:lnTo>
                <a:lnTo>
                  <a:pt x="0" y="300038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130996" y="7687568"/>
            <a:ext cx="1026170" cy="560040"/>
          </a:xfrm>
          <a:custGeom>
            <a:avLst/>
            <a:gdLst/>
            <a:ahLst/>
            <a:cxnLst/>
            <a:rect l="l" t="t" r="r" b="b"/>
            <a:pathLst>
              <a:path w="1026170" h="56004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560040"/>
                </a:lnTo>
                <a:lnTo>
                  <a:pt x="0" y="56004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214315" y="7407548"/>
            <a:ext cx="1026096" cy="840060"/>
          </a:xfrm>
          <a:custGeom>
            <a:avLst/>
            <a:gdLst/>
            <a:ahLst/>
            <a:cxnLst/>
            <a:rect l="l" t="t" r="r" b="b"/>
            <a:pathLst>
              <a:path w="1026096" h="840060">
                <a:moveTo>
                  <a:pt x="57150" y="0"/>
                </a:moveTo>
                <a:lnTo>
                  <a:pt x="968946" y="0"/>
                </a:lnTo>
                <a:arcTo hR="57150" wR="57150" stAng="16200000" swAng="5400000"/>
                <a:lnTo>
                  <a:pt x="1026096" y="840060"/>
                </a:lnTo>
                <a:lnTo>
                  <a:pt x="0" y="84006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297561" y="7047458"/>
            <a:ext cx="1026170" cy="1200150"/>
          </a:xfrm>
          <a:custGeom>
            <a:avLst/>
            <a:gdLst/>
            <a:ahLst/>
            <a:cxnLst/>
            <a:rect l="l" t="t" r="r" b="b"/>
            <a:pathLst>
              <a:path w="1026170" h="120015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200150"/>
                </a:lnTo>
                <a:lnTo>
                  <a:pt x="0" y="120015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380881" y="6687443"/>
            <a:ext cx="1026170" cy="1560165"/>
          </a:xfrm>
          <a:custGeom>
            <a:avLst/>
            <a:gdLst/>
            <a:ahLst/>
            <a:cxnLst/>
            <a:rect l="l" t="t" r="r" b="b"/>
            <a:pathLst>
              <a:path w="1026170" h="156016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560165"/>
                </a:lnTo>
                <a:lnTo>
                  <a:pt x="0" y="156016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64201" y="6847433"/>
            <a:ext cx="1026170" cy="1400175"/>
          </a:xfrm>
          <a:custGeom>
            <a:avLst/>
            <a:gdLst/>
            <a:ahLst/>
            <a:cxnLst/>
            <a:rect l="l" t="t" r="r" b="b"/>
            <a:pathLst>
              <a:path w="1026170" h="140017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400175"/>
                </a:lnTo>
                <a:lnTo>
                  <a:pt x="0" y="140017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547521" y="7247483"/>
            <a:ext cx="1026170" cy="1000125"/>
          </a:xfrm>
          <a:custGeom>
            <a:avLst/>
            <a:gdLst/>
            <a:ahLst/>
            <a:cxnLst/>
            <a:rect l="l" t="t" r="r" b="b"/>
            <a:pathLst>
              <a:path w="1026170" h="100012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000125"/>
                </a:lnTo>
                <a:lnTo>
                  <a:pt x="0" y="100012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630841" y="7647533"/>
            <a:ext cx="1026170" cy="600075"/>
          </a:xfrm>
          <a:custGeom>
            <a:avLst/>
            <a:gdLst/>
            <a:ahLst/>
            <a:cxnLst/>
            <a:rect l="l" t="t" r="r" b="b"/>
            <a:pathLst>
              <a:path w="1026170" h="60007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600075"/>
                </a:lnTo>
                <a:lnTo>
                  <a:pt x="0" y="60007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9714161" y="8047583"/>
            <a:ext cx="1026170" cy="200025"/>
          </a:xfrm>
          <a:custGeom>
            <a:avLst/>
            <a:gdLst/>
            <a:ahLst/>
            <a:cxnLst/>
            <a:rect l="l" t="t" r="r" b="b"/>
            <a:pathLst>
              <a:path w="1026170" h="20002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200025"/>
                </a:lnTo>
                <a:lnTo>
                  <a:pt x="0" y="20002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E0A38F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10797480" y="8007623"/>
            <a:ext cx="1026170" cy="239985"/>
          </a:xfrm>
          <a:custGeom>
            <a:avLst/>
            <a:gdLst/>
            <a:ahLst/>
            <a:cxnLst/>
            <a:rect l="l" t="t" r="r" b="b"/>
            <a:pathLst>
              <a:path w="1026170" h="23998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239985"/>
                </a:lnTo>
                <a:lnTo>
                  <a:pt x="0" y="23998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1880800" y="7767563"/>
            <a:ext cx="1026170" cy="480045"/>
          </a:xfrm>
          <a:custGeom>
            <a:avLst/>
            <a:gdLst/>
            <a:ahLst/>
            <a:cxnLst/>
            <a:rect l="l" t="t" r="r" b="b"/>
            <a:pathLst>
              <a:path w="1026170" h="48004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480045"/>
                </a:lnTo>
                <a:lnTo>
                  <a:pt x="0" y="48004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2964120" y="7527578"/>
            <a:ext cx="1026170" cy="720030"/>
          </a:xfrm>
          <a:custGeom>
            <a:avLst/>
            <a:gdLst/>
            <a:ahLst/>
            <a:cxnLst/>
            <a:rect l="l" t="t" r="r" b="b"/>
            <a:pathLst>
              <a:path w="1026170" h="72003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720030"/>
                </a:lnTo>
                <a:lnTo>
                  <a:pt x="0" y="72003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4047440" y="7287518"/>
            <a:ext cx="1026170" cy="960090"/>
          </a:xfrm>
          <a:custGeom>
            <a:avLst/>
            <a:gdLst/>
            <a:ahLst/>
            <a:cxnLst/>
            <a:rect l="l" t="t" r="r" b="b"/>
            <a:pathLst>
              <a:path w="1026170" h="96009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960090"/>
                </a:lnTo>
                <a:lnTo>
                  <a:pt x="0" y="96009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15130760" y="7047458"/>
            <a:ext cx="1026170" cy="1200150"/>
          </a:xfrm>
          <a:custGeom>
            <a:avLst/>
            <a:gdLst/>
            <a:ahLst/>
            <a:cxnLst/>
            <a:rect l="l" t="t" r="r" b="b"/>
            <a:pathLst>
              <a:path w="1026170" h="120015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200150"/>
                </a:lnTo>
                <a:lnTo>
                  <a:pt x="0" y="120015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6214080" y="6767438"/>
            <a:ext cx="1026170" cy="1480170"/>
          </a:xfrm>
          <a:custGeom>
            <a:avLst/>
            <a:gdLst/>
            <a:ahLst/>
            <a:cxnLst/>
            <a:rect l="l" t="t" r="r" b="b"/>
            <a:pathLst>
              <a:path w="1026170" h="148017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480170"/>
                </a:lnTo>
                <a:lnTo>
                  <a:pt x="0" y="148017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47750" y="8400008"/>
            <a:ext cx="648891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8FBB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1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883947" y="8400008"/>
            <a:ext cx="2646387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8FBB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старт продаж · мес 16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6553259" y="8400008"/>
            <a:ext cx="763191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8FBB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36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209354"/>
            <a:ext cx="3135139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285554"/>
            <a:ext cx="28862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05 · Целевые группы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852291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Пациенты на диспансерном учёте</a:t>
            </a:r>
            <a:endParaRPr lang="en-US" sz="4650" dirty="0"/>
          </a:p>
        </p:txBody>
      </p:sp>
      <p:sp>
        <p:nvSpPr>
          <p:cNvPr id="5" name="Text 3"/>
          <p:cNvSpPr/>
          <p:nvPr/>
        </p:nvSpPr>
        <p:spPr>
          <a:xfrm>
            <a:off x="1047750" y="4086671"/>
            <a:ext cx="44005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0B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Гипертония</a:t>
            </a:r>
            <a:endParaRPr lang="en-US" sz="2025" dirty="0"/>
          </a:p>
        </p:txBody>
      </p:sp>
      <p:sp>
        <p:nvSpPr>
          <p:cNvPr id="6" name="Shape 4"/>
          <p:cNvSpPr/>
          <p:nvPr/>
        </p:nvSpPr>
        <p:spPr>
          <a:xfrm>
            <a:off x="5295900" y="3967609"/>
            <a:ext cx="7600950" cy="533400"/>
          </a:xfrm>
          <a:prstGeom prst="roundRect">
            <a:avLst>
              <a:gd name="adj" fmla="val 17857"/>
            </a:avLst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3144500" y="4081909"/>
            <a:ext cx="240982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1 776 876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47750" y="4822478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Диабет 2 типа</a:t>
            </a:r>
            <a:endParaRPr lang="en-US" sz="2025" dirty="0"/>
          </a:p>
        </p:txBody>
      </p:sp>
      <p:sp>
        <p:nvSpPr>
          <p:cNvPr id="9" name="Shape 7"/>
          <p:cNvSpPr/>
          <p:nvPr/>
        </p:nvSpPr>
        <p:spPr>
          <a:xfrm>
            <a:off x="5295900" y="4710559"/>
            <a:ext cx="2128242" cy="533400"/>
          </a:xfrm>
          <a:prstGeom prst="roundRect">
            <a:avLst>
              <a:gd name="adj" fmla="val 17857"/>
            </a:avLst>
          </a:prstGeom>
          <a:solidFill>
            <a:srgbClr val="3AAF7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3144500" y="4817715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492 335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47750" y="5565428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Астма</a:t>
            </a:r>
            <a:endParaRPr lang="en-US" sz="2025" dirty="0"/>
          </a:p>
        </p:txBody>
      </p:sp>
      <p:sp>
        <p:nvSpPr>
          <p:cNvPr id="12" name="Shape 10"/>
          <p:cNvSpPr/>
          <p:nvPr/>
        </p:nvSpPr>
        <p:spPr>
          <a:xfrm>
            <a:off x="5295900" y="5453509"/>
            <a:ext cx="532061" cy="533400"/>
          </a:xfrm>
          <a:prstGeom prst="roundRect">
            <a:avLst>
              <a:gd name="adj" fmla="val 17902"/>
            </a:avLst>
          </a:prstGeom>
          <a:solidFill>
            <a:srgbClr val="7BC7A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3144500" y="5560665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110 000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47750" y="6308378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Лёгочная болезнь (ХОБЛ)</a:t>
            </a:r>
            <a:endParaRPr lang="en-US" sz="2025" dirty="0"/>
          </a:p>
        </p:txBody>
      </p:sp>
      <p:sp>
        <p:nvSpPr>
          <p:cNvPr id="15" name="Shape 13"/>
          <p:cNvSpPr/>
          <p:nvPr/>
        </p:nvSpPr>
        <p:spPr>
          <a:xfrm>
            <a:off x="5295900" y="6196459"/>
            <a:ext cx="380033" cy="533400"/>
          </a:xfrm>
          <a:prstGeom prst="roundRect">
            <a:avLst>
              <a:gd name="adj" fmla="val 25064"/>
            </a:avLst>
          </a:prstGeom>
          <a:solidFill>
            <a:srgbClr val="A9D9C0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3144500" y="6303615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70 000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047750" y="7051328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Сердечная недостаточность</a:t>
            </a:r>
            <a:endParaRPr lang="en-US" sz="2025" dirty="0"/>
          </a:p>
        </p:txBody>
      </p:sp>
      <p:sp>
        <p:nvSpPr>
          <p:cNvPr id="18" name="Shape 16"/>
          <p:cNvSpPr/>
          <p:nvPr/>
        </p:nvSpPr>
        <p:spPr>
          <a:xfrm>
            <a:off x="5295900" y="6939409"/>
            <a:ext cx="228005" cy="533400"/>
          </a:xfrm>
          <a:prstGeom prst="roundRect">
            <a:avLst>
              <a:gd name="adj" fmla="val 41775"/>
            </a:avLst>
          </a:prstGeom>
          <a:solidFill>
            <a:srgbClr val="C7E5D5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3144500" y="7046565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37 485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047750" y="7815709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Минздрава и НЦОЗ · численность целевых групп, человек</a:t>
            </a:r>
            <a:endParaRPr lang="en-US" sz="172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607246"/>
            <a:ext cx="2960191" cy="414338"/>
          </a:xfrm>
          <a:prstGeom prst="roundRect">
            <a:avLst>
              <a:gd name="adj" fmla="val 22988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683446"/>
            <a:ext cx="270609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06 · Мобильное приложение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3269233"/>
            <a:ext cx="8364891" cy="1330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2299"/>
              </a:lnSpc>
              <a:buNone/>
            </a:pPr>
            <a:r>
              <a:rPr lang="en-US" sz="4800" b="1" spc="-96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 целиком живёт в приложении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047750" y="4980608"/>
            <a:ext cx="893337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Личный коридор, а не норма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1047750" y="5313983"/>
            <a:ext cx="893337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«выше вашего обычного», а не «пульс 68»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47750" y="5843513"/>
            <a:ext cx="893337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уровня раскрытия</a:t>
            </a:r>
            <a:endParaRPr lang="en-US" sz="2025" dirty="0"/>
          </a:p>
        </p:txBody>
      </p:sp>
      <p:sp>
        <p:nvSpPr>
          <p:cNvPr id="8" name="Text 6"/>
          <p:cNvSpPr/>
          <p:nvPr/>
        </p:nvSpPr>
        <p:spPr>
          <a:xfrm>
            <a:off x="1047750" y="6176888"/>
            <a:ext cx="893337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 → тренд → сырые данные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47750" y="6706419"/>
            <a:ext cx="893337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Честная калибровка</a:t>
            </a:r>
            <a:endParaRPr lang="en-US" sz="2025" dirty="0"/>
          </a:p>
        </p:txBody>
      </p:sp>
      <p:sp>
        <p:nvSpPr>
          <p:cNvPr id="10" name="Text 8"/>
          <p:cNvSpPr/>
          <p:nvPr/>
        </p:nvSpPr>
        <p:spPr>
          <a:xfrm>
            <a:off x="1047750" y="7039794"/>
            <a:ext cx="8364891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пишем, сколько ночей осталось; без ИИ-советника и оценки давления по браслету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931003" y="1524000"/>
            <a:ext cx="7309247" cy="7239000"/>
          </a:xfrm>
          <a:prstGeom prst="roundRect">
            <a:avLst>
              <a:gd name="adj" fmla="val 3158"/>
            </a:avLst>
          </a:prstGeom>
          <a:ln/>
          <a:effectLst>
            <a:outerShdw sx="100000" sy="100000" kx="0" ky="0" algn="bl" rotWithShape="0" blurRad="666750" dist="28575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16261" b="16261"/>
          <a:stretch/>
        </p:blipFill>
        <p:spPr>
          <a:xfrm>
            <a:off x="9931003" y="1524000"/>
            <a:ext cx="7309247" cy="723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2485132"/>
            <a:ext cx="17811750" cy="618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896"/>
              </a:lnSpc>
              <a:buNone/>
            </a:pPr>
            <a:r>
              <a:rPr lang="en-US" sz="4350" b="1" spc="-87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Рабочее место врача — не добавить работы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3522390"/>
            <a:ext cx="16192500" cy="4279404"/>
          </a:xfrm>
          <a:prstGeom prst="roundRect">
            <a:avLst>
              <a:gd name="adj" fmla="val 4452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  <a:effectLst>
            <a:outerShdw sx="100000" sy="100000" kx="0" ky="0" algn="bl" rotWithShape="0" blurRad="476250" dist="190500" dir="5400000">
              <a:srgbClr val="0B3D2C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57275" y="3531915"/>
            <a:ext cx="16173450" cy="742950"/>
          </a:xfrm>
          <a:prstGeom prst="rect">
            <a:avLst/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400175" y="3760515"/>
            <a:ext cx="150278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9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DAMUMED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2956843" y="3777183"/>
            <a:ext cx="7161862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Дистанционное наблюдение · 143 пациента · тревог за сутки: 3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57275" y="4274865"/>
            <a:ext cx="16173450" cy="604838"/>
          </a:xfrm>
          <a:prstGeom prst="rect">
            <a:avLst/>
          </a:prstGeom>
          <a:solidFill>
            <a:srgbClr val="F4F7F5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057275" y="4870177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400175" y="4465365"/>
            <a:ext cx="4439934" cy="252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Пациент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224215" y="4465365"/>
            <a:ext cx="2822593" cy="252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Диагноз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334500" y="4465365"/>
            <a:ext cx="2822516" cy="252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Состояние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444710" y="4465365"/>
            <a:ext cx="4744810" cy="252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произошло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057275" y="4879702"/>
            <a:ext cx="16173450" cy="1070521"/>
          </a:xfrm>
          <a:prstGeom prst="rect">
            <a:avLst/>
          </a:prstGeom>
          <a:solidFill>
            <a:srgbClr val="FBECEA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057275" y="5940698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400175" y="5272088"/>
            <a:ext cx="443993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Абенова Г. К.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6224215" y="5279231"/>
            <a:ext cx="28225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ХСН IIБ</a:t>
            </a:r>
            <a:endParaRPr lang="en-US" sz="1725" dirty="0"/>
          </a:p>
        </p:txBody>
      </p:sp>
      <p:sp>
        <p:nvSpPr>
          <p:cNvPr id="17" name="Shape 15"/>
          <p:cNvSpPr/>
          <p:nvPr/>
        </p:nvSpPr>
        <p:spPr>
          <a:xfrm>
            <a:off x="9334500" y="5245894"/>
            <a:ext cx="1239441" cy="323850"/>
          </a:xfrm>
          <a:prstGeom prst="roundRect">
            <a:avLst>
              <a:gd name="adj" fmla="val 50000"/>
            </a:avLst>
          </a:prstGeom>
          <a:solidFill>
            <a:srgbClr val="FBE4E2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486900" y="5303044"/>
            <a:ext cx="101084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4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Красный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444710" y="5127352"/>
            <a:ext cx="4744810" cy="6037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Вес +2,3 кг за 3 дня, ночной пульс 74 при коридоре 58–66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057275" y="7011219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400175" y="6342608"/>
            <a:ext cx="443993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Кимова А. С.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6224215" y="6349752"/>
            <a:ext cx="28225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 II, 68 лет</a:t>
            </a:r>
            <a:endParaRPr lang="en-US" sz="1725" dirty="0"/>
          </a:p>
        </p:txBody>
      </p:sp>
      <p:sp>
        <p:nvSpPr>
          <p:cNvPr id="23" name="Shape 21"/>
          <p:cNvSpPr/>
          <p:nvPr/>
        </p:nvSpPr>
        <p:spPr>
          <a:xfrm>
            <a:off x="9334500" y="6316414"/>
            <a:ext cx="1196429" cy="323850"/>
          </a:xfrm>
          <a:prstGeom prst="roundRect">
            <a:avLst>
              <a:gd name="adj" fmla="val 50000"/>
            </a:avLst>
          </a:prstGeom>
          <a:solidFill>
            <a:srgbClr val="FBF0D9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486900" y="6373564"/>
            <a:ext cx="967829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877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Жёлтый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2444710" y="6197873"/>
            <a:ext cx="4744810" cy="6037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эпизода нерегулярного ритма за неделю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400175" y="7268394"/>
            <a:ext cx="443993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Остальные 140</a:t>
            </a:r>
            <a:endParaRPr lang="en-US" sz="1875" dirty="0"/>
          </a:p>
        </p:txBody>
      </p:sp>
      <p:sp>
        <p:nvSpPr>
          <p:cNvPr id="27" name="Text 25"/>
          <p:cNvSpPr/>
          <p:nvPr/>
        </p:nvSpPr>
        <p:spPr>
          <a:xfrm>
            <a:off x="6224215" y="7275537"/>
            <a:ext cx="28225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ХСН · АГ · СД2</a:t>
            </a:r>
            <a:endParaRPr lang="en-US" sz="1725" dirty="0"/>
          </a:p>
        </p:txBody>
      </p:sp>
      <p:sp>
        <p:nvSpPr>
          <p:cNvPr id="28" name="Shape 26"/>
          <p:cNvSpPr/>
          <p:nvPr/>
        </p:nvSpPr>
        <p:spPr>
          <a:xfrm>
            <a:off x="9334500" y="7242200"/>
            <a:ext cx="1253133" cy="323850"/>
          </a:xfrm>
          <a:prstGeom prst="roundRect">
            <a:avLst>
              <a:gd name="adj" fmla="val 50000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486900" y="7299350"/>
            <a:ext cx="1024533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Зелёный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2444710" y="7280300"/>
            <a:ext cx="474481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отклонений — не требуют действий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1930747"/>
            <a:ext cx="3109913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006947"/>
            <a:ext cx="286031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07 · Производство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573685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Решает доступ к данным, не цена</a:t>
            </a:r>
            <a:endParaRPr lang="en-US" sz="4650" dirty="0"/>
          </a:p>
        </p:txBody>
      </p:sp>
      <p:sp>
        <p:nvSpPr>
          <p:cNvPr id="5" name="Shape 3"/>
          <p:cNvSpPr/>
          <p:nvPr/>
        </p:nvSpPr>
        <p:spPr>
          <a:xfrm>
            <a:off x="1047750" y="3727103"/>
            <a:ext cx="5219700" cy="3533775"/>
          </a:xfrm>
          <a:prstGeom prst="roundRect">
            <a:avLst>
              <a:gd name="adj" fmla="val 5391"/>
            </a:avLst>
          </a:prstGeom>
          <a:solidFill>
            <a:srgbClr val="0B3D2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85900" y="4146203"/>
            <a:ext cx="477774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J-Style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485900" y="4622453"/>
            <a:ext cx="477774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Shenzhen Youhong Medical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85900" y="5146328"/>
            <a:ext cx="47777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Мин. партия · </a:t>
            </a:r>
            <a:pPr algn="l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2 000</a:t>
            </a:r>
            <a:endParaRPr lang="en-US" sz="1725" dirty="0"/>
          </a:p>
        </p:txBody>
      </p:sp>
      <p:sp>
        <p:nvSpPr>
          <p:cNvPr id="9" name="Text 7"/>
          <p:cNvSpPr/>
          <p:nvPr/>
        </p:nvSpPr>
        <p:spPr>
          <a:xfrm>
            <a:off x="1485900" y="5527328"/>
            <a:ext cx="47777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 13485 · </a:t>
            </a:r>
            <a:pPr algn="l" indent="0" marL="0">
              <a:buNone/>
            </a:pPr>
            <a:r>
              <a:rPr lang="en-US" sz="1725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725" dirty="0"/>
          </a:p>
        </p:txBody>
      </p:sp>
      <p:sp>
        <p:nvSpPr>
          <p:cNvPr id="10" name="Text 8"/>
          <p:cNvSpPr/>
          <p:nvPr/>
        </p:nvSpPr>
        <p:spPr>
          <a:xfrm>
            <a:off x="1485900" y="5908328"/>
            <a:ext cx="477774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Полный доступ к данным</a:t>
            </a:r>
            <a:endParaRPr lang="en-US" sz="1725" dirty="0"/>
          </a:p>
        </p:txBody>
      </p:sp>
      <p:sp>
        <p:nvSpPr>
          <p:cNvPr id="11" name="Shape 9"/>
          <p:cNvSpPr/>
          <p:nvPr/>
        </p:nvSpPr>
        <p:spPr>
          <a:xfrm>
            <a:off x="1485900" y="6398865"/>
            <a:ext cx="4343400" cy="442913"/>
          </a:xfrm>
          <a:prstGeom prst="roundRect">
            <a:avLst>
              <a:gd name="adj" fmla="val 21505"/>
            </a:avLst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573149" y="6513165"/>
            <a:ext cx="4168902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 к медицинской регистрации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34150" y="3727103"/>
            <a:ext cx="5219700" cy="3533775"/>
          </a:xfrm>
          <a:prstGeom prst="roundRect">
            <a:avLst>
              <a:gd name="adj" fmla="val 5391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981825" y="4155728"/>
            <a:ext cx="475678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Eternity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981825" y="4631978"/>
            <a:ext cx="475678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Guangdong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981825" y="5155853"/>
            <a:ext cx="475678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Мин. партия · </a:t>
            </a:r>
            <a:pPr algn="l" indent="0" marL="0">
              <a:buNone/>
            </a:pPr>
            <a:r>
              <a:rPr lang="en-US" sz="1725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</a:t>
            </a:r>
            <a:endParaRPr lang="en-US" sz="1725" dirty="0"/>
          </a:p>
        </p:txBody>
      </p:sp>
      <p:sp>
        <p:nvSpPr>
          <p:cNvPr id="17" name="Text 15"/>
          <p:cNvSpPr/>
          <p:nvPr/>
        </p:nvSpPr>
        <p:spPr>
          <a:xfrm>
            <a:off x="6981825" y="5536853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Система качества · не подтверждена</a:t>
            </a:r>
            <a:endParaRPr lang="en-US" sz="1725" dirty="0"/>
          </a:p>
        </p:txBody>
      </p:sp>
      <p:sp>
        <p:nvSpPr>
          <p:cNvPr id="18" name="Text 16"/>
          <p:cNvSpPr/>
          <p:nvPr/>
        </p:nvSpPr>
        <p:spPr>
          <a:xfrm>
            <a:off x="6981825" y="5913090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Самая низкая цена</a:t>
            </a:r>
            <a:endParaRPr lang="en-US" sz="1725" dirty="0"/>
          </a:p>
        </p:txBody>
      </p:sp>
      <p:sp>
        <p:nvSpPr>
          <p:cNvPr id="19" name="Shape 17"/>
          <p:cNvSpPr/>
          <p:nvPr/>
        </p:nvSpPr>
        <p:spPr>
          <a:xfrm>
            <a:off x="12020550" y="3727103"/>
            <a:ext cx="5219700" cy="3533775"/>
          </a:xfrm>
          <a:prstGeom prst="roundRect">
            <a:avLst>
              <a:gd name="adj" fmla="val 5391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2468225" y="4155728"/>
            <a:ext cx="475678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Wonlex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2468225" y="4841528"/>
            <a:ext cx="475678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Мин. партия · </a:t>
            </a:r>
            <a:pPr algn="l" indent="0" marL="0">
              <a:buNone/>
            </a:pPr>
            <a:r>
              <a:rPr lang="en-US" sz="1725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</a:t>
            </a:r>
            <a:endParaRPr lang="en-US" sz="1725" dirty="0"/>
          </a:p>
        </p:txBody>
      </p:sp>
      <p:sp>
        <p:nvSpPr>
          <p:cNvPr id="22" name="Text 20"/>
          <p:cNvSpPr/>
          <p:nvPr/>
        </p:nvSpPr>
        <p:spPr>
          <a:xfrm>
            <a:off x="12468225" y="5222528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Лучшая начинка</a:t>
            </a:r>
            <a:endParaRPr lang="en-US" sz="1725" dirty="0"/>
          </a:p>
        </p:txBody>
      </p:sp>
      <p:sp>
        <p:nvSpPr>
          <p:cNvPr id="23" name="Text 21"/>
          <p:cNvSpPr/>
          <p:nvPr/>
        </p:nvSpPr>
        <p:spPr>
          <a:xfrm>
            <a:off x="12468225" y="5598765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сертификатов</a:t>
            </a:r>
            <a:endParaRPr lang="en-US" sz="1725" dirty="0"/>
          </a:p>
        </p:txBody>
      </p:sp>
      <p:sp>
        <p:nvSpPr>
          <p:cNvPr id="24" name="Text 22"/>
          <p:cNvSpPr/>
          <p:nvPr/>
        </p:nvSpPr>
        <p:spPr>
          <a:xfrm>
            <a:off x="1047750" y="7641878"/>
            <a:ext cx="13906738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310"/>
              </a:lnSpc>
              <a:buNone/>
            </a:pPr>
            <a:r>
              <a:rPr lang="en-US" sz="187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Ключевое условие контракта: устройство отдаёт данные напрямую в Damumed, без облака производителя. Образцы — 4–6 недель, серия — 8–12 недель после утверждения.</a:t>
            </a:r>
            <a:endParaRPr lang="en-US" sz="187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447032"/>
            <a:ext cx="2955727" cy="414338"/>
          </a:xfrm>
          <a:prstGeom prst="roundRect">
            <a:avLst>
              <a:gd name="adj" fmla="val 22988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523232"/>
            <a:ext cx="2701498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08 · Регистрация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3109020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Класс риска 2а · 14–18 месяцев</a:t>
            </a:r>
            <a:endParaRPr lang="en-US" sz="4650" dirty="0"/>
          </a:p>
        </p:txBody>
      </p:sp>
      <p:sp>
        <p:nvSpPr>
          <p:cNvPr id="5" name="Text 3"/>
          <p:cNvSpPr/>
          <p:nvPr/>
        </p:nvSpPr>
        <p:spPr>
          <a:xfrm>
            <a:off x="1047750" y="4300538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0–2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47750" y="4691063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и контракт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047750" y="5053013"/>
            <a:ext cx="3335655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образцы, проверка доступа к данным</a:t>
            </a:r>
            <a:endParaRPr lang="en-US" sz="1575" dirty="0"/>
          </a:p>
        </p:txBody>
      </p:sp>
      <p:sp>
        <p:nvSpPr>
          <p:cNvPr id="8" name="Text 6"/>
          <p:cNvSpPr/>
          <p:nvPr/>
        </p:nvSpPr>
        <p:spPr>
          <a:xfrm>
            <a:off x="4286250" y="4300538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2–5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86250" y="4691063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партия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4286250" y="5053013"/>
            <a:ext cx="3335655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серия, маркировка на двух языках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7524750" y="4300538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3–9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524750" y="4691063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Испытания и досье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7524750" y="5053013"/>
            <a:ext cx="3335655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техиспытания, биосовместимость</a:t>
            </a:r>
            <a:endParaRPr lang="en-US" sz="1575" dirty="0"/>
          </a:p>
        </p:txBody>
      </p:sp>
      <p:sp>
        <p:nvSpPr>
          <p:cNvPr id="14" name="Text 12"/>
          <p:cNvSpPr/>
          <p:nvPr/>
        </p:nvSpPr>
        <p:spPr>
          <a:xfrm>
            <a:off x="10763250" y="4300538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9–16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763250" y="4691063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Экспертиза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0763250" y="5053013"/>
            <a:ext cx="3562350" cy="31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норматив 90 дней по классу 2а</a:t>
            </a:r>
            <a:endParaRPr lang="en-US" sz="1575" dirty="0"/>
          </a:p>
        </p:txBody>
      </p:sp>
      <p:sp>
        <p:nvSpPr>
          <p:cNvPr id="17" name="Text 15"/>
          <p:cNvSpPr/>
          <p:nvPr/>
        </p:nvSpPr>
        <p:spPr>
          <a:xfrm>
            <a:off x="14001750" y="4300538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14–18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001750" y="4691063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Удостоверение и старт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4001750" y="5053013"/>
            <a:ext cx="3562350" cy="31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удостоверение бессрочно</a:t>
            </a:r>
            <a:endParaRPr lang="en-US" sz="1575" dirty="0"/>
          </a:p>
        </p:txBody>
      </p:sp>
      <p:sp>
        <p:nvSpPr>
          <p:cNvPr id="20" name="Shape 18"/>
          <p:cNvSpPr/>
          <p:nvPr/>
        </p:nvSpPr>
        <p:spPr>
          <a:xfrm>
            <a:off x="1047750" y="5936903"/>
            <a:ext cx="16192500" cy="381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ECF8E">
                  <a:alpha val="100000"/>
                </a:srgbClr>
              </a:gs>
              <a:gs pos="100000">
                <a:srgbClr val="1C6B4C">
                  <a:alpha val="100000"/>
                </a:srgbClr>
              </a:gs>
            </a:gsLst>
            <a:lin ang="0" scaled="0"/>
          </a:gra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1047750" y="6508403"/>
            <a:ext cx="7943850" cy="1331565"/>
          </a:xfrm>
          <a:prstGeom prst="roundRect">
            <a:avLst>
              <a:gd name="adj" fmla="val 1287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438275" y="6841778"/>
            <a:ext cx="78790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ЭКГ в первой версии</a:t>
            </a:r>
            <a:endParaRPr lang="en-US" sz="2025" dirty="0"/>
          </a:p>
        </p:txBody>
      </p:sp>
      <p:sp>
        <p:nvSpPr>
          <p:cNvPr id="23" name="Text 21"/>
          <p:cNvSpPr/>
          <p:nvPr/>
        </p:nvSpPr>
        <p:spPr>
          <a:xfrm>
            <a:off x="1438275" y="7213253"/>
            <a:ext cx="787908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200"/>
              </a:lnSpc>
              <a:buNone/>
            </a:pPr>
            <a:r>
              <a:rPr lang="en-US" sz="16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ЭКГ поднимает класс до 2б и требует инспекции завода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9296400" y="6508403"/>
            <a:ext cx="7943850" cy="1331565"/>
          </a:xfrm>
          <a:prstGeom prst="roundRect">
            <a:avLst>
              <a:gd name="adj" fmla="val 1287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686925" y="6841778"/>
            <a:ext cx="78790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Аналитика без ИИ</a:t>
            </a:r>
            <a:endParaRPr lang="en-US" sz="2025" dirty="0"/>
          </a:p>
        </p:txBody>
      </p:sp>
      <p:sp>
        <p:nvSpPr>
          <p:cNvPr id="26" name="Text 24"/>
          <p:cNvSpPr/>
          <p:nvPr/>
        </p:nvSpPr>
        <p:spPr>
          <a:xfrm>
            <a:off x="9686925" y="7213253"/>
            <a:ext cx="787908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200"/>
              </a:lnSpc>
              <a:buNone/>
            </a:pPr>
            <a:r>
              <a:rPr lang="en-US" sz="16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с ИИ автоматически получает высший класс риска</a:t>
            </a:r>
            <a:endParaRPr lang="en-US" sz="1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1823293"/>
            <a:ext cx="2241575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1899493"/>
            <a:ext cx="197487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09 · Риски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466231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риск закрыт решением</a:t>
            </a:r>
            <a:endParaRPr lang="en-US" sz="4650" dirty="0"/>
          </a:p>
        </p:txBody>
      </p:sp>
      <p:sp>
        <p:nvSpPr>
          <p:cNvPr id="5" name="Shape 3"/>
          <p:cNvSpPr/>
          <p:nvPr/>
        </p:nvSpPr>
        <p:spPr>
          <a:xfrm>
            <a:off x="1047750" y="3581549"/>
            <a:ext cx="16192500" cy="924818"/>
          </a:xfrm>
          <a:prstGeom prst="roundRect">
            <a:avLst>
              <a:gd name="adj" fmla="val 1647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38275" y="3876824"/>
            <a:ext cx="830865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не даёт доступ к данным или документацию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296400" y="3883968"/>
            <a:ext cx="830865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до предоплаты — условие контракта, а не пожелание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47750" y="4696867"/>
            <a:ext cx="16192500" cy="1230511"/>
          </a:xfrm>
          <a:prstGeom prst="roundRect">
            <a:avLst>
              <a:gd name="adj" fmla="val 12385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438275" y="5144988"/>
            <a:ext cx="830865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Регистрация затянется дольше 18 месяцев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296400" y="4992142"/>
            <a:ext cx="777992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с европейским сертификатом открывает ускоренную экспертизу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047750" y="6117878"/>
            <a:ext cx="16192500" cy="924818"/>
          </a:xfrm>
          <a:prstGeom prst="roundRect">
            <a:avLst>
              <a:gd name="adj" fmla="val 1647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438275" y="6413153"/>
            <a:ext cx="830865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Поликлиники не готовы платить за мониторинг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296400" y="6420296"/>
            <a:ext cx="830865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2–3 разговорами до заказа; иначе разворот в розницу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47750" y="7233196"/>
            <a:ext cx="16192500" cy="1230511"/>
          </a:xfrm>
          <a:prstGeom prst="roundRect">
            <a:avLst>
              <a:gd name="adj" fmla="val 12385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438275" y="7681317"/>
            <a:ext cx="830865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Закупочная цена окажется выше плана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296400" y="7528471"/>
            <a:ext cx="777992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Запас цены держит до $11,5; выше — розница 19 990 ₸, всё равно ниже Xiaomi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1583308"/>
            <a:ext cx="9603038" cy="26531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614"/>
              </a:lnSpc>
              <a:buNone/>
            </a:pPr>
            <a:r>
              <a:rPr lang="en-US" sz="6600" b="1" spc="-132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Позиция, которую в Казахстане не занял никто</a:t>
            </a:r>
            <a:endParaRPr lang="en-US" sz="6600" dirty="0"/>
          </a:p>
        </p:txBody>
      </p:sp>
      <p:sp>
        <p:nvSpPr>
          <p:cNvPr id="3" name="Text 1"/>
          <p:cNvSpPr/>
          <p:nvPr/>
        </p:nvSpPr>
        <p:spPr>
          <a:xfrm>
            <a:off x="1047750" y="4865117"/>
            <a:ext cx="5015203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047750" y="5636642"/>
            <a:ext cx="4696053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носимое устройство со статусом медизделия на рынке РК</a:t>
            </a:r>
            <a:endParaRPr lang="en-US" sz="1875" dirty="0"/>
          </a:p>
        </p:txBody>
      </p:sp>
      <p:sp>
        <p:nvSpPr>
          <p:cNvPr id="5" name="Text 3"/>
          <p:cNvSpPr/>
          <p:nvPr/>
        </p:nvSpPr>
        <p:spPr>
          <a:xfrm>
            <a:off x="5911825" y="4865117"/>
            <a:ext cx="5015203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2 лет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5911825" y="5636642"/>
            <a:ext cx="4696053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окупаемость первой партии от подписания контракта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10775900" y="4865117"/>
            <a:ext cx="5015203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Барьер</a:t>
            </a:r>
            <a:endParaRPr lang="en-US" sz="4500" dirty="0"/>
          </a:p>
        </p:txBody>
      </p:sp>
      <p:sp>
        <p:nvSpPr>
          <p:cNvPr id="8" name="Text 6"/>
          <p:cNvSpPr/>
          <p:nvPr/>
        </p:nvSpPr>
        <p:spPr>
          <a:xfrm>
            <a:off x="10775900" y="5636642"/>
            <a:ext cx="4696053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удостоверение и интеграция с МИС — 18 месяцев для любого конкурента</a:t>
            </a:r>
            <a:endParaRPr lang="en-US" sz="1875" dirty="0"/>
          </a:p>
        </p:txBody>
      </p:sp>
      <p:sp>
        <p:nvSpPr>
          <p:cNvPr id="9" name="Shape 7"/>
          <p:cNvSpPr/>
          <p:nvPr/>
        </p:nvSpPr>
        <p:spPr>
          <a:xfrm>
            <a:off x="1047750" y="7065392"/>
            <a:ext cx="7920930" cy="9525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47750" y="7417817"/>
            <a:ext cx="8158558" cy="1323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435"/>
              </a:lnSpc>
              <a:buNone/>
            </a:pPr>
            <a:r>
              <a:rPr lang="en-US" sz="225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Damumed Band — дистанционное наблюдение за цену, которая не требует раздумий, и повторная выручка, которая не заканчивается вместе с партией.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2026-08-31T15:13:43Z</dcterms:created>
  <dcterms:modified xsi:type="dcterms:W3CDTF">2026-08-31T15:13:43Z</dcterms:modified>
</cp:coreProperties>
</file>